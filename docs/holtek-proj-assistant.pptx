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584" r:id="rId2"/>
    <p:sldId id="577" r:id="rId3"/>
    <p:sldId id="587" r:id="rId4"/>
    <p:sldId id="585" r:id="rId5"/>
    <p:sldId id="586" r:id="rId6"/>
    <p:sldId id="590" r:id="rId7"/>
    <p:sldId id="588" r:id="rId8"/>
    <p:sldId id="591" r:id="rId9"/>
    <p:sldId id="592" r:id="rId10"/>
    <p:sldId id="594" r:id="rId11"/>
    <p:sldId id="593" r:id="rId12"/>
    <p:sldId id="595" r:id="rId13"/>
    <p:sldId id="596" r:id="rId14"/>
    <p:sldId id="597" r:id="rId15"/>
    <p:sldId id="598" r:id="rId16"/>
    <p:sldId id="601" r:id="rId17"/>
    <p:sldId id="602" r:id="rId18"/>
    <p:sldId id="603" r:id="rId19"/>
    <p:sldId id="606" r:id="rId20"/>
    <p:sldId id="604" r:id="rId21"/>
    <p:sldId id="605" r:id="rId22"/>
    <p:sldId id="582" r:id="rId2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94EAE874-0F71-EB41-B151-28C717DE48A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-978937" y="-527925"/>
            <a:ext cx="10931249" cy="5619936"/>
          </a:xfrm>
          <a:prstGeom prst="rect">
            <a:avLst/>
          </a:prstGeom>
        </p:spPr>
      </p:pic>
      <p:sp>
        <p:nvSpPr>
          <p:cNvPr id="20" name="标题占位符 1">
            <a:extLst>
              <a:ext uri="{FF2B5EF4-FFF2-40B4-BE49-F238E27FC236}">
                <a16:creationId xmlns:a16="http://schemas.microsoft.com/office/drawing/2014/main" id="{B6D2BC76-A66A-434A-9AC6-48022715F0B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622289" y="1221236"/>
            <a:ext cx="5354981" cy="472836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>
              <a:defRPr sz="2700">
                <a:solidFill>
                  <a:srgbClr val="0168B7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會議標題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840B9722-22DF-6947-AEC2-F0A2E74CA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89226" y="1336472"/>
            <a:ext cx="2908391" cy="24236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383D3D0-32E8-BB4A-BE0A-A6406E6BE8C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049" y="192504"/>
            <a:ext cx="1315635" cy="55017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0E4BD53-EB85-9ABD-1D2C-AC6082F6622E}"/>
              </a:ext>
            </a:extLst>
          </p:cNvPr>
          <p:cNvSpPr/>
          <p:nvPr/>
        </p:nvSpPr>
        <p:spPr>
          <a:xfrm>
            <a:off x="0" y="4709371"/>
            <a:ext cx="9144000" cy="434130"/>
          </a:xfrm>
          <a:prstGeom prst="rect">
            <a:avLst/>
          </a:prstGeom>
          <a:solidFill>
            <a:srgbClr val="016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350"/>
          </a:p>
        </p:txBody>
      </p:sp>
      <p:sp>
        <p:nvSpPr>
          <p:cNvPr id="3" name="Rectangle 944">
            <a:extLst>
              <a:ext uri="{FF2B5EF4-FFF2-40B4-BE49-F238E27FC236}">
                <a16:creationId xmlns:a16="http://schemas.microsoft.com/office/drawing/2014/main" id="{50B53384-3A34-64EB-A232-3BF793B5455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880789" y="969010"/>
            <a:ext cx="307181" cy="7938820"/>
          </a:xfrm>
          <a:prstGeom prst="rect">
            <a:avLst/>
          </a:prstGeom>
          <a:noFill/>
          <a:ln>
            <a:noFill/>
          </a:ln>
          <a:effectLst/>
        </p:spPr>
        <p:txBody>
          <a:bodyPr vert="eaVert" wrap="none" anchor="ctr"/>
          <a:lstStyle>
            <a:lvl1pPr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9pPr>
          </a:lstStyle>
          <a:p>
            <a:pPr eaLnBrk="1" hangingPunct="1"/>
            <a:r>
              <a:rPr lang="zh-TW" altLang="en-US" sz="750" dirty="0">
                <a:solidFill>
                  <a:schemeClr val="bg1"/>
                </a:solidFill>
                <a:latin typeface="+mn-ea"/>
                <a:ea typeface="+mn-ea"/>
              </a:rPr>
              <a:t>本資料為盛群半導體股份有限公司專有之財產，非經書面許可不准透露或使用本資料，亦不准複印、複製或轉變成任何其他形式使用。                                            </a:t>
            </a:r>
            <a:r>
              <a:rPr lang="en-US" altLang="zh-TW" sz="750" b="1" dirty="0">
                <a:solidFill>
                  <a:schemeClr val="bg1"/>
                </a:solidFill>
                <a:effectLst/>
                <a:latin typeface="+mn-ea"/>
                <a:ea typeface="+mn-ea"/>
              </a:rPr>
              <a:t>(</a:t>
            </a:r>
            <a:r>
              <a:rPr lang="zh-TW" altLang="en-US" sz="750" b="1" dirty="0">
                <a:solidFill>
                  <a:schemeClr val="bg1"/>
                </a:solidFill>
                <a:effectLst/>
                <a:latin typeface="+mn-ea"/>
                <a:ea typeface="+mn-ea"/>
              </a:rPr>
              <a:t>機密 </a:t>
            </a:r>
            <a:r>
              <a:rPr lang="en-US" altLang="zh-TW" sz="750" b="1" dirty="0">
                <a:solidFill>
                  <a:schemeClr val="bg1"/>
                </a:solidFill>
                <a:effectLst/>
                <a:latin typeface="+mn-ea"/>
                <a:ea typeface="+mn-ea"/>
              </a:rPr>
              <a:t>/ Confidential)</a:t>
            </a:r>
            <a:endParaRPr lang="zh-TW" altLang="en-US" sz="750" b="1" dirty="0">
              <a:solidFill>
                <a:schemeClr val="bg1"/>
              </a:solidFill>
              <a:effectLst/>
              <a:latin typeface="+mn-ea"/>
              <a:ea typeface="+mn-ea"/>
            </a:endParaRPr>
          </a:p>
          <a:p>
            <a:pPr eaLnBrk="1" hangingPunct="1"/>
            <a:r>
              <a:rPr lang="en-US" altLang="zh-TW" sz="750" dirty="0">
                <a:solidFill>
                  <a:schemeClr val="bg1"/>
                </a:solidFill>
              </a:rPr>
              <a:t>The information contained herein is the exclusive property of HOLTEK and shall  not be distributed, reproduced, or disclosed in whole or in part without prior written permission of HOLTEK.                             V1.00</a:t>
            </a:r>
            <a:endParaRPr lang="en-US" altLang="zh-TW" sz="750" b="1" dirty="0">
              <a:solidFill>
                <a:schemeClr val="bg1"/>
              </a:solidFill>
            </a:endParaRP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58926713-55BE-5F86-5366-BEB7C612B15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179652" y="4711337"/>
            <a:ext cx="832914" cy="237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90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內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6A8CF22-23BE-584F-A4D7-1753C8920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43" y="493063"/>
            <a:ext cx="1227118" cy="208985"/>
          </a:xfrm>
          <a:prstGeom prst="rect">
            <a:avLst/>
          </a:prstGeom>
        </p:spPr>
      </p:pic>
      <p:sp>
        <p:nvSpPr>
          <p:cNvPr id="21" name="标题占位符 1">
            <a:extLst>
              <a:ext uri="{FF2B5EF4-FFF2-40B4-BE49-F238E27FC236}">
                <a16:creationId xmlns:a16="http://schemas.microsoft.com/office/drawing/2014/main" id="{CC07BDFC-0492-074B-A74B-912F8797D0C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379460" y="332954"/>
            <a:ext cx="6020242" cy="5292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>
              <a:defRPr sz="195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標題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AEB8131-C03B-3F45-9142-27F8858488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049" y="192504"/>
            <a:ext cx="1315635" cy="550175"/>
          </a:xfrm>
          <a:prstGeom prst="rect">
            <a:avLst/>
          </a:prstGeom>
        </p:spPr>
      </p:pic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651D52FB-F411-FDB4-6246-F7A435391D3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179652" y="4708265"/>
            <a:ext cx="832914" cy="237600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8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A4E8447-0617-F843-B4B8-5473BF4F7C50}"/>
              </a:ext>
            </a:extLst>
          </p:cNvPr>
          <p:cNvSpPr/>
          <p:nvPr/>
        </p:nvSpPr>
        <p:spPr>
          <a:xfrm>
            <a:off x="-89453" y="-69573"/>
            <a:ext cx="9322905" cy="54273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35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B112D6A-A2E4-8E4C-A3AC-7BD5826F29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978937" y="-527925"/>
            <a:ext cx="10931249" cy="5619936"/>
          </a:xfrm>
          <a:prstGeom prst="rect">
            <a:avLst/>
          </a:prstGeom>
        </p:spPr>
      </p:pic>
      <p:sp>
        <p:nvSpPr>
          <p:cNvPr id="15" name="標題 1">
            <a:extLst>
              <a:ext uri="{FF2B5EF4-FFF2-40B4-BE49-F238E27FC236}">
                <a16:creationId xmlns:a16="http://schemas.microsoft.com/office/drawing/2014/main" id="{4506FBE2-8A58-BC40-AEDF-E2B9840BA3B9}"/>
              </a:ext>
            </a:extLst>
          </p:cNvPr>
          <p:cNvSpPr txBox="1">
            <a:spLocks/>
          </p:cNvSpPr>
          <p:nvPr/>
        </p:nvSpPr>
        <p:spPr>
          <a:xfrm>
            <a:off x="2044430" y="2085258"/>
            <a:ext cx="5055140" cy="972985"/>
          </a:xfrm>
          <a:prstGeom prst="rect">
            <a:avLst/>
          </a:prstGeom>
        </p:spPr>
        <p:txBody>
          <a:bodyPr vert="horz" lIns="67628" tIns="35243" rIns="67628" bIns="35243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en-US" altLang="zh-TW" sz="5400" b="1" u="none" strike="noStrike" kern="1200" cap="none" spc="225" normalizeH="0" baseline="0" dirty="0">
                <a:solidFill>
                  <a:srgbClr val="0168B7"/>
                </a:solidFill>
                <a:uFillTx/>
                <a:latin typeface="+mn-ea"/>
                <a:ea typeface="+mn-ea"/>
                <a:cs typeface="+mj-cs"/>
              </a:rPr>
              <a:t>Thank You</a:t>
            </a:r>
            <a:endParaRPr lang="zh-TW" altLang="en-US" sz="5400" b="1" u="none" strike="noStrike" kern="1200" cap="none" spc="225" normalizeH="0" baseline="0" dirty="0">
              <a:solidFill>
                <a:srgbClr val="0168B7"/>
              </a:solidFill>
              <a:uFillTx/>
              <a:latin typeface="+mn-ea"/>
              <a:ea typeface="+mn-ea"/>
              <a:cs typeface="+mj-cs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7D2827B4-881E-F243-BEBA-8680BA97859D}"/>
              </a:ext>
            </a:extLst>
          </p:cNvPr>
          <p:cNvGrpSpPr/>
          <p:nvPr/>
        </p:nvGrpSpPr>
        <p:grpSpPr>
          <a:xfrm>
            <a:off x="-1056909" y="2450568"/>
            <a:ext cx="11257819" cy="242366"/>
            <a:chOff x="-1409540" y="3267422"/>
            <a:chExt cx="15010425" cy="323155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E869CC78-98ED-5643-B35C-5F9F81C493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409540" y="3267422"/>
              <a:ext cx="3877855" cy="323155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F346C313-7BAE-B040-B08E-D27A1AB6C6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>
              <a:off x="9723685" y="3267422"/>
              <a:ext cx="3877200" cy="281932"/>
            </a:xfrm>
            <a:prstGeom prst="rect">
              <a:avLst/>
            </a:prstGeom>
          </p:spPr>
        </p:pic>
      </p:grpSp>
      <p:pic>
        <p:nvPicPr>
          <p:cNvPr id="11" name="圖片 10">
            <a:extLst>
              <a:ext uri="{FF2B5EF4-FFF2-40B4-BE49-F238E27FC236}">
                <a16:creationId xmlns:a16="http://schemas.microsoft.com/office/drawing/2014/main" id="{FBD384E6-F4C1-0744-9C18-0D73B67750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049" y="192504"/>
            <a:ext cx="1315635" cy="55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4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892DA89-E6C0-1771-2556-6C0C76C14D64}"/>
              </a:ext>
            </a:extLst>
          </p:cNvPr>
          <p:cNvSpPr/>
          <p:nvPr/>
        </p:nvSpPr>
        <p:spPr>
          <a:xfrm>
            <a:off x="0" y="4709371"/>
            <a:ext cx="9144000" cy="434130"/>
          </a:xfrm>
          <a:prstGeom prst="rect">
            <a:avLst/>
          </a:prstGeom>
          <a:solidFill>
            <a:srgbClr val="016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350"/>
          </a:p>
        </p:txBody>
      </p:sp>
      <p:sp>
        <p:nvSpPr>
          <p:cNvPr id="8" name="Rectangle 944">
            <a:extLst>
              <a:ext uri="{FF2B5EF4-FFF2-40B4-BE49-F238E27FC236}">
                <a16:creationId xmlns:a16="http://schemas.microsoft.com/office/drawing/2014/main" id="{BB92A0CC-0127-EAFC-894E-F9FA93B1AE9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880789" y="969010"/>
            <a:ext cx="307181" cy="7938820"/>
          </a:xfrm>
          <a:prstGeom prst="rect">
            <a:avLst/>
          </a:prstGeom>
          <a:noFill/>
          <a:ln>
            <a:noFill/>
          </a:ln>
          <a:effectLst/>
        </p:spPr>
        <p:txBody>
          <a:bodyPr vert="eaVert" wrap="none" anchor="ctr"/>
          <a:lstStyle>
            <a:lvl1pPr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標楷體" pitchFamily="65" charset="-120"/>
              </a:defRPr>
            </a:lvl9pPr>
          </a:lstStyle>
          <a:p>
            <a:pPr eaLnBrk="1" hangingPunct="1"/>
            <a:r>
              <a:rPr lang="zh-TW" altLang="en-US" sz="750" dirty="0">
                <a:solidFill>
                  <a:schemeClr val="bg1"/>
                </a:solidFill>
                <a:latin typeface="+mn-ea"/>
                <a:ea typeface="+mn-ea"/>
              </a:rPr>
              <a:t>本資料為盛群半導體股份有限公司專有之財產，非經書面許可不准透露或使用本資料，亦不准複印、複製或轉變成任何其他形式使用。                                            </a:t>
            </a:r>
            <a:r>
              <a:rPr lang="en-US" altLang="zh-TW" sz="750" b="1" dirty="0">
                <a:solidFill>
                  <a:schemeClr val="bg1"/>
                </a:solidFill>
                <a:effectLst/>
                <a:latin typeface="+mn-ea"/>
                <a:ea typeface="+mn-ea"/>
              </a:rPr>
              <a:t>(</a:t>
            </a:r>
            <a:r>
              <a:rPr lang="zh-TW" altLang="en-US" sz="750" b="1" dirty="0">
                <a:solidFill>
                  <a:schemeClr val="bg1"/>
                </a:solidFill>
                <a:effectLst/>
                <a:latin typeface="+mn-ea"/>
                <a:ea typeface="+mn-ea"/>
              </a:rPr>
              <a:t>機密 </a:t>
            </a:r>
            <a:r>
              <a:rPr lang="en-US" altLang="zh-TW" sz="750" b="1" dirty="0">
                <a:solidFill>
                  <a:schemeClr val="bg1"/>
                </a:solidFill>
                <a:effectLst/>
                <a:latin typeface="+mn-ea"/>
                <a:ea typeface="+mn-ea"/>
              </a:rPr>
              <a:t>/ Confidential)</a:t>
            </a:r>
            <a:endParaRPr lang="zh-TW" altLang="en-US" sz="750" b="1" dirty="0">
              <a:solidFill>
                <a:schemeClr val="bg1"/>
              </a:solidFill>
              <a:effectLst/>
              <a:latin typeface="+mn-ea"/>
              <a:ea typeface="+mn-ea"/>
            </a:endParaRPr>
          </a:p>
          <a:p>
            <a:pPr eaLnBrk="1" hangingPunct="1"/>
            <a:r>
              <a:rPr lang="en-US" altLang="zh-TW" sz="750" dirty="0">
                <a:solidFill>
                  <a:schemeClr val="bg1"/>
                </a:solidFill>
              </a:rPr>
              <a:t>The information contained herein is the exclusive property of HOLTEK and shall  not be distributed, reproduced, or disclosed in whole or in part without prior written permission of HOLTEK.                             V1.00 </a:t>
            </a:r>
            <a:endParaRPr lang="en-US" altLang="zh-TW" sz="750" b="1" dirty="0">
              <a:solidFill>
                <a:schemeClr val="bg1"/>
              </a:solidFill>
            </a:endParaRPr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EB965625-F488-9E62-E4A7-2481B906B715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179652" y="4713258"/>
            <a:ext cx="832914" cy="237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1996204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1" u="none" strike="noStrike" kern="1200" cap="none" spc="225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●"/>
        <a:defRPr sz="1350" u="none" strike="noStrike" kern="1200" cap="none" spc="113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450"/>
        </a:spcAft>
        <a:buFont typeface="Arial" panose="020B0604020202020204" pitchFamily="34" charset="0"/>
        <a:buChar char="●"/>
        <a:tabLst>
          <a:tab pos="1207294" algn="l"/>
          <a:tab pos="1207294" algn="l"/>
          <a:tab pos="1207294" algn="l"/>
          <a:tab pos="1207294" algn="l"/>
        </a:tabLst>
        <a:defRPr sz="1200" u="none" strike="noStrike" kern="1200" cap="none" spc="113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450"/>
        </a:spcAft>
        <a:buFont typeface="Arial" panose="020B0604020202020204" pitchFamily="34" charset="0"/>
        <a:buChar char="●"/>
        <a:defRPr sz="1200" u="none" strike="noStrike" kern="1200" cap="none" spc="113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225"/>
        </a:spcAft>
        <a:buFont typeface="Wingdings" panose="05000000000000000000" charset="0"/>
        <a:buChar char=""/>
        <a:defRPr sz="1050" u="none" strike="noStrike" kern="1200" cap="none" spc="113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225"/>
        </a:spcAft>
        <a:buFont typeface="Arial" panose="020B0604020202020204" pitchFamily="34" charset="0"/>
        <a:buChar char="•"/>
        <a:defRPr sz="1050" u="none" strike="noStrike" kern="1200" cap="none" spc="113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7041C1-11F3-2C42-A55F-3AA981AAE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289" y="1221236"/>
            <a:ext cx="5908501" cy="472836"/>
          </a:xfrm>
        </p:spPr>
        <p:txBody>
          <a:bodyPr/>
          <a:lstStyle/>
          <a:p>
            <a:pPr algn="ctr"/>
            <a:r>
              <a:rPr kumimoji="1" lang="en-US" altLang="zh-TW" dirty="0"/>
              <a:t>HT32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VSCode</a:t>
            </a:r>
            <a:r>
              <a:rPr kumimoji="1" lang="zh-TW" altLang="en-US" dirty="0"/>
              <a:t>開發環境擴充功能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1B76FE8-9444-CE49-A01C-0DAFE716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pPr algn="r"/>
            <a:fld id="{49AE70B2-8BF9-45C0-BB95-33D1B9D3A854}" type="slidenum">
              <a:rPr lang="zh-CN" altLang="en-US" smtClean="0"/>
              <a:pPr algn="r"/>
              <a:t>1</a:t>
            </a:fld>
            <a:endParaRPr lang="zh-CN" altLang="en-US" dirty="0"/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F946457F-9BF7-A444-B9F7-2666F0119071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1622289" y="3004133"/>
            <a:ext cx="3098799" cy="832373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50" dirty="0"/>
              <a:t>報告人：</a:t>
            </a:r>
            <a:r>
              <a:rPr lang="zh-TW" altLang="en-US" sz="1350" dirty="0"/>
              <a:t>蘇麗卿</a:t>
            </a:r>
            <a:endParaRPr lang="en-US" altLang="zh-CN" sz="1350" dirty="0"/>
          </a:p>
          <a:p>
            <a:r>
              <a:rPr lang="zh-CN" altLang="en-US" sz="1350" dirty="0"/>
              <a:t>報告日期：</a:t>
            </a:r>
          </a:p>
        </p:txBody>
      </p:sp>
      <p:sp>
        <p:nvSpPr>
          <p:cNvPr id="5" name="标题占位符 1">
            <a:extLst>
              <a:ext uri="{FF2B5EF4-FFF2-40B4-BE49-F238E27FC236}">
                <a16:creationId xmlns:a16="http://schemas.microsoft.com/office/drawing/2014/main" id="{D8CF790E-B646-3C4E-B83D-F5D9FAB08111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1622289" y="1892677"/>
            <a:ext cx="5354981" cy="880340"/>
          </a:xfrm>
          <a:prstGeom prst="rect">
            <a:avLst/>
          </a:prstGeom>
        </p:spPr>
        <p:txBody>
          <a:bodyPr vert="horz" lIns="67628" tIns="35243" rIns="67628" bIns="35243" rtlCol="0" anchor="t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rgbClr val="0168B7"/>
                </a:solidFill>
                <a:uFillTx/>
                <a:latin typeface="+mn-ea"/>
                <a:ea typeface="+mn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100" dirty="0"/>
              <a:t>產品名稱</a:t>
            </a:r>
            <a:r>
              <a:rPr lang="en-US" altLang="zh-CN" sz="2100" dirty="0"/>
              <a:t>:ht32-proj-assistant</a:t>
            </a:r>
            <a:br>
              <a:rPr lang="en-US" altLang="zh-CN" sz="2100" dirty="0"/>
            </a:br>
            <a:r>
              <a:rPr lang="zh-CN" altLang="en-US" sz="2100" dirty="0"/>
              <a:t>產品型號</a:t>
            </a:r>
            <a:r>
              <a:rPr lang="en-US" altLang="zh-CN" sz="2100" dirty="0"/>
              <a:t>:HT32</a:t>
            </a:r>
            <a:endParaRPr lang="zh-CN" altLang="en-US" sz="2100" dirty="0"/>
          </a:p>
        </p:txBody>
      </p:sp>
    </p:spTree>
    <p:extLst>
      <p:ext uri="{BB962C8B-B14F-4D97-AF65-F5344CB8AC3E}">
        <p14:creationId xmlns:p14="http://schemas.microsoft.com/office/powerpoint/2010/main" val="720417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970EC42-6D04-0C4A-9DAA-462B589FD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4BF9DF2-6D8E-5C4C-A7A6-6EDA84E63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簡介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7A61AE0-7EA8-104F-AAFA-4B27E22C146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6300" y="1043854"/>
            <a:ext cx="8226900" cy="2740125"/>
          </a:xfrm>
          <a:prstGeom prst="rect">
            <a:avLst/>
          </a:prstGeom>
        </p:spPr>
        <p:txBody>
          <a:bodyPr/>
          <a:lstStyle/>
          <a:p>
            <a:r>
              <a:rPr lang="en-US" altLang="zh-TW" b="1" dirty="0" err="1"/>
              <a:t>Holtek</a:t>
            </a:r>
            <a:r>
              <a:rPr lang="en-US" altLang="zh-TW" b="1" dirty="0"/>
              <a:t> HT32 </a:t>
            </a:r>
            <a:r>
              <a:rPr lang="zh-TW" altLang="en-US" b="1" dirty="0"/>
              <a:t>系列 </a:t>
            </a:r>
            <a:r>
              <a:rPr lang="en-US" altLang="zh-TW" b="1" dirty="0"/>
              <a:t>Cortex-M </a:t>
            </a:r>
            <a:r>
              <a:rPr lang="zh-TW" altLang="en-US" b="1" dirty="0"/>
              <a:t>微控制器專用 </a:t>
            </a:r>
            <a:r>
              <a:rPr lang="en-US" altLang="zh-TW" b="1" dirty="0"/>
              <a:t>VS Code Extension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/>
              <a:t>支援 </a:t>
            </a:r>
            <a:r>
              <a:rPr lang="en-US" altLang="zh-TW" dirty="0"/>
              <a:t>HT32 </a:t>
            </a:r>
            <a:r>
              <a:rPr lang="zh-TW" altLang="en-US" dirty="0"/>
              <a:t>全系列（</a:t>
            </a:r>
            <a:r>
              <a:rPr lang="en-US" altLang="zh-TW" dirty="0"/>
              <a:t>Cortex-M0+/M3/M4</a:t>
            </a:r>
            <a:r>
              <a:rPr lang="zh-TW" altLang="en-US" dirty="0"/>
              <a:t>）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/>
              <a:t>建立新專案 </a:t>
            </a:r>
            <a:r>
              <a:rPr lang="en-US" altLang="zh-TW" dirty="0"/>
              <a:t>/ </a:t>
            </a:r>
            <a:r>
              <a:rPr lang="zh-TW" altLang="en-US" dirty="0"/>
              <a:t>匯入 </a:t>
            </a:r>
            <a:r>
              <a:rPr lang="en-US" altLang="zh-TW" dirty="0"/>
              <a:t>Keil </a:t>
            </a:r>
            <a:r>
              <a:rPr lang="en-US" altLang="zh-TW" dirty="0" err="1"/>
              <a:t>uVision</a:t>
            </a:r>
            <a:r>
              <a:rPr lang="en-US" altLang="zh-TW" dirty="0"/>
              <a:t> / </a:t>
            </a:r>
            <a:r>
              <a:rPr lang="zh-TW" altLang="en-US" dirty="0"/>
              <a:t>匯入 </a:t>
            </a:r>
            <a:r>
              <a:rPr lang="en-US" altLang="zh-TW" dirty="0"/>
              <a:t>HT32-IDE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TW" altLang="en-US" dirty="0"/>
              <a:t>一鍵編譯、燒錄、除錯；內建 </a:t>
            </a:r>
            <a:r>
              <a:rPr lang="en-US" altLang="zh-TW" dirty="0" err="1"/>
              <a:t>OpenOCD</a:t>
            </a:r>
            <a:r>
              <a:rPr lang="en-US" altLang="zh-TW" dirty="0"/>
              <a:t> + e-Link32 </a:t>
            </a:r>
            <a:r>
              <a:rPr lang="zh-TW" altLang="en-US" dirty="0"/>
              <a:t>支援</a:t>
            </a:r>
            <a:endParaRPr lang="en-US" altLang="zh-TW" dirty="0"/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zh-TW" altLang="en-US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TW" altLang="en-US" b="1" dirty="0"/>
              <a:t>安裝需求</a:t>
            </a: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610B001C-684A-8E43-9541-92277BEBA69B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B65B4666-E7BE-39E7-0E19-CD66318249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2486449"/>
              </p:ext>
            </p:extLst>
          </p:nvPr>
        </p:nvGraphicFramePr>
        <p:xfrm>
          <a:off x="683940" y="2702258"/>
          <a:ext cx="794710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6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/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 err="1"/>
                        <a:t>說明</a:t>
                      </a:r>
                      <a:endParaRPr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 err="1"/>
                        <a:t>作業系統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/>
                        <a:t>Windows x64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 err="1"/>
                        <a:t>除錯器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 dirty="0" err="1"/>
                        <a:t>Holtek</a:t>
                      </a:r>
                      <a:r>
                        <a:rPr sz="1200" dirty="0"/>
                        <a:t> e-Link32 Pro / </a:t>
                      </a:r>
                      <a:r>
                        <a:rPr sz="1200" dirty="0" err="1"/>
                        <a:t>Lite；支援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J-Link、ST-Link</a:t>
                      </a:r>
                      <a:endParaRPr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200"/>
                        <a:t>FWLib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需要；支援 </a:t>
                      </a:r>
                      <a:r>
                        <a:rPr lang="en-US" altLang="zh-TW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HT32F1xxxx / HT32F4xxxx / HT32F5xxxx / HT32F490x1 / HT32F491x3 / HT32F493x5</a:t>
                      </a:r>
                      <a:endParaRPr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AD0D144A-5D19-B8E6-4DA2-A47162C9418F}"/>
              </a:ext>
            </a:extLst>
          </p:cNvPr>
          <p:cNvSpPr txBox="1"/>
          <p:nvPr/>
        </p:nvSpPr>
        <p:spPr>
          <a:xfrm>
            <a:off x="683940" y="3938522"/>
            <a:ext cx="79992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1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GCC </a:t>
            </a:r>
            <a:r>
              <a:rPr lang="zh-TW" altLang="en-US" sz="1200" b="1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工具鏈：</a:t>
            </a:r>
            <a:r>
              <a:rPr lang="zh-TW" altLang="en-US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擴充功能啟動時自動偵測；找不到時透過 </a:t>
            </a:r>
            <a:r>
              <a:rPr lang="en-US" altLang="zh-TW" sz="1200" i="0" dirty="0" err="1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winget</a:t>
            </a:r>
            <a:r>
              <a:rPr lang="en-US" altLang="zh-TW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自動安裝 </a:t>
            </a:r>
            <a:endParaRPr lang="en-US" altLang="zh-TW" sz="1200" i="0" dirty="0">
              <a:solidFill>
                <a:srgbClr val="59636E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 b="1" i="0" dirty="0" err="1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OpenOCD</a:t>
            </a:r>
            <a:r>
              <a:rPr lang="zh-TW" altLang="en-US" sz="1200" b="1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zh-TW" altLang="en-US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已內建，無需另外安裝 </a:t>
            </a:r>
            <a:r>
              <a:rPr lang="en-US" altLang="zh-TW" sz="1200" i="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12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</a:t>
            </a:r>
            <a:r>
              <a:rPr lang="en-US" altLang="zh-TW" sz="1200" i="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HT32-IDE</a:t>
            </a:r>
            <a:r>
              <a:rPr lang="zh-TW" altLang="en-US" sz="1200" i="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之元件</a:t>
            </a:r>
            <a:r>
              <a:rPr lang="en-US" altLang="zh-TW" sz="1200" i="0" dirty="0"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en-US" altLang="zh-TW" sz="1200" b="1" i="0" dirty="0">
              <a:solidFill>
                <a:srgbClr val="FF0000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sz="1200" b="1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相依擴充功能：</a:t>
            </a:r>
            <a:r>
              <a:rPr lang="zh-TW" altLang="en-US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安裝時自動一併安裝 </a:t>
            </a:r>
            <a:r>
              <a:rPr lang="en-US" altLang="zh-TW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Cortex-Debug</a:t>
            </a:r>
            <a:r>
              <a:rPr lang="zh-TW" altLang="en-US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（除錯介面）與 </a:t>
            </a:r>
            <a:r>
              <a:rPr lang="en-US" altLang="zh-TW" sz="1200" i="0" dirty="0" err="1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Holtek</a:t>
            </a:r>
            <a:r>
              <a:rPr lang="en-US" altLang="zh-TW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Configuration Wizard</a:t>
            </a:r>
            <a:r>
              <a:rPr lang="zh-TW" altLang="en-US" sz="1200" i="0" dirty="0">
                <a:solidFill>
                  <a:srgbClr val="59636E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（設定精靈）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25749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0A6AC-BCC8-2761-A4CC-446DB5E76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2303998-846E-C636-F786-6F7902232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2481556-C537-227D-733A-48355FCE9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介面介紹</a:t>
            </a:r>
            <a:endParaRPr kumimoji="1"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AF096A49-5B76-398B-F686-EDBA5CE60AEF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2249831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pic>
        <p:nvPicPr>
          <p:cNvPr id="6" name="圖片 5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8AFB231C-7F45-31E9-226F-26B41E2E1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202" y="1114235"/>
            <a:ext cx="5818988" cy="309133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0C8D3D9-A6E0-4C9D-3B3A-AA2506119284}"/>
              </a:ext>
            </a:extLst>
          </p:cNvPr>
          <p:cNvSpPr/>
          <p:nvPr/>
        </p:nvSpPr>
        <p:spPr>
          <a:xfrm>
            <a:off x="2866729" y="1251682"/>
            <a:ext cx="191264" cy="1462751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36B289-21F5-5EF9-5247-04F403CA3713}"/>
              </a:ext>
            </a:extLst>
          </p:cNvPr>
          <p:cNvSpPr/>
          <p:nvPr/>
        </p:nvSpPr>
        <p:spPr>
          <a:xfrm>
            <a:off x="3114760" y="1251682"/>
            <a:ext cx="1097475" cy="2780676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8598863-3271-57FB-3A62-261AA5F714EA}"/>
              </a:ext>
            </a:extLst>
          </p:cNvPr>
          <p:cNvSpPr/>
          <p:nvPr/>
        </p:nvSpPr>
        <p:spPr>
          <a:xfrm>
            <a:off x="2866729" y="4099813"/>
            <a:ext cx="5843934" cy="137447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C1A6A01-C6B0-477D-8676-AA5F10D2EF75}"/>
              </a:ext>
            </a:extLst>
          </p:cNvPr>
          <p:cNvSpPr/>
          <p:nvPr/>
        </p:nvSpPr>
        <p:spPr>
          <a:xfrm>
            <a:off x="4269002" y="1254575"/>
            <a:ext cx="4035549" cy="2780676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B2B3C02-4463-9DA9-9CE6-361B4575F6DD}"/>
              </a:ext>
            </a:extLst>
          </p:cNvPr>
          <p:cNvSpPr txBox="1"/>
          <p:nvPr/>
        </p:nvSpPr>
        <p:spPr>
          <a:xfrm>
            <a:off x="2825647" y="2713226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/>
                </a:solidFill>
              </a:rPr>
              <a:t>A</a:t>
            </a:r>
            <a:endParaRPr lang="zh-TW" altLang="en-US" dirty="0">
              <a:solidFill>
                <a:schemeClr val="bg2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103ED2D-BA88-8166-1B1F-7433A77DA207}"/>
              </a:ext>
            </a:extLst>
          </p:cNvPr>
          <p:cNvSpPr txBox="1"/>
          <p:nvPr/>
        </p:nvSpPr>
        <p:spPr>
          <a:xfrm>
            <a:off x="3536809" y="2714433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/>
                </a:solidFill>
              </a:rPr>
              <a:t>B</a:t>
            </a:r>
            <a:endParaRPr lang="zh-TW" altLang="en-US" dirty="0">
              <a:solidFill>
                <a:schemeClr val="bg2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467C34-A536-FDC1-8CA9-7219264028C2}"/>
              </a:ext>
            </a:extLst>
          </p:cNvPr>
          <p:cNvSpPr txBox="1"/>
          <p:nvPr/>
        </p:nvSpPr>
        <p:spPr>
          <a:xfrm>
            <a:off x="6815529" y="271322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2"/>
                </a:solidFill>
              </a:rPr>
              <a:t>C</a:t>
            </a:r>
            <a:endParaRPr lang="zh-TW" altLang="en-US" dirty="0">
              <a:solidFill>
                <a:schemeClr val="bg2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5506109-B335-41C6-52F9-C5431321F4EE}"/>
              </a:ext>
            </a:extLst>
          </p:cNvPr>
          <p:cNvSpPr txBox="1"/>
          <p:nvPr/>
        </p:nvSpPr>
        <p:spPr>
          <a:xfrm>
            <a:off x="3845867" y="414720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D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5" name="內容版面配置區 3">
            <a:extLst>
              <a:ext uri="{FF2B5EF4-FFF2-40B4-BE49-F238E27FC236}">
                <a16:creationId xmlns:a16="http://schemas.microsoft.com/office/drawing/2014/main" id="{CA1896C9-A0EE-E9CC-3C18-8FB3AE1BB078}"/>
              </a:ext>
            </a:extLst>
          </p:cNvPr>
          <p:cNvSpPr txBox="1">
            <a:spLocks/>
          </p:cNvSpPr>
          <p:nvPr/>
        </p:nvSpPr>
        <p:spPr>
          <a:xfrm>
            <a:off x="408541" y="1170195"/>
            <a:ext cx="2312580" cy="159670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●"/>
              <a:defRPr sz="13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tabLst>
                <a:tab pos="1207294" algn="l"/>
                <a:tab pos="1207294" algn="l"/>
                <a:tab pos="1207294" algn="l"/>
                <a:tab pos="1207294" algn="l"/>
              </a:tabLst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Wingdings" panose="05000000000000000000" charset="0"/>
              <a:buChar char="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/>
              <a:t>A: Activity Bar</a:t>
            </a:r>
          </a:p>
          <a:p>
            <a:r>
              <a:rPr lang="en-US" altLang="zh-TW" b="1" dirty="0"/>
              <a:t>B: Primary Side Bar</a:t>
            </a:r>
          </a:p>
          <a:p>
            <a:r>
              <a:rPr lang="en-US" altLang="zh-TW" b="1" dirty="0"/>
              <a:t>C: Editor</a:t>
            </a:r>
          </a:p>
          <a:p>
            <a:r>
              <a:rPr lang="en-US" altLang="zh-TW" b="1" dirty="0"/>
              <a:t>D: Status Bar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37677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83F84-C3BB-0B31-B23F-38AD22D62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A1CBE55-CD70-6B12-B760-706F7830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9CAF03F-10E6-16D2-BF32-590EF8027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安裝</a:t>
            </a:r>
            <a:r>
              <a:rPr kumimoji="1" lang="en-US" altLang="zh-TW" dirty="0"/>
              <a:t>Extension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8333CD-552A-FE83-6749-CE2743BBF48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6300" y="872872"/>
            <a:ext cx="8226900" cy="3602486"/>
          </a:xfrm>
          <a:prstGeom prst="rect">
            <a:avLst/>
          </a:prstGeom>
        </p:spPr>
        <p:txBody>
          <a:bodyPr/>
          <a:lstStyle/>
          <a:p>
            <a:r>
              <a:rPr lang="zh-TW" altLang="en-US" b="1" dirty="0"/>
              <a:t>從 </a:t>
            </a:r>
            <a:r>
              <a:rPr lang="en-US" altLang="zh-TW" b="1" dirty="0"/>
              <a:t>.</a:t>
            </a:r>
            <a:r>
              <a:rPr lang="en-US" altLang="zh-TW" b="1" dirty="0" err="1"/>
              <a:t>vsix</a:t>
            </a:r>
            <a:r>
              <a:rPr lang="en-US" altLang="zh-TW" b="1" dirty="0"/>
              <a:t> </a:t>
            </a:r>
            <a:r>
              <a:rPr lang="zh-TW" altLang="en-US" b="1" dirty="0"/>
              <a:t>安裝</a:t>
            </a:r>
            <a:endParaRPr lang="en-US" altLang="zh-TW" b="1" dirty="0"/>
          </a:p>
          <a:p>
            <a:pPr marL="342900" lvl="1" indent="0">
              <a:buNone/>
            </a:pPr>
            <a:r>
              <a:rPr lang="en-US" altLang="zh-TW" dirty="0"/>
              <a:t>1. VS Code → Extensions → ... → </a:t>
            </a:r>
            <a:r>
              <a:rPr lang="en-US" altLang="zh-TW" b="1" dirty="0"/>
              <a:t>Install from VSIX...</a:t>
            </a:r>
            <a:endParaRPr lang="en-US" altLang="zh-TW" dirty="0"/>
          </a:p>
          <a:p>
            <a:pPr marL="342900" lvl="1" indent="0">
              <a:buNone/>
            </a:pPr>
            <a:r>
              <a:rPr lang="en-US" altLang="zh-TW" dirty="0"/>
              <a:t>2. </a:t>
            </a:r>
            <a:r>
              <a:rPr lang="zh-TW" altLang="en-US" dirty="0"/>
              <a:t>選取 </a:t>
            </a:r>
            <a:r>
              <a:rPr lang="en-US" altLang="zh-TW" dirty="0"/>
              <a:t>`ht32-proj-assistant-x.x.x.vsix`</a:t>
            </a:r>
          </a:p>
          <a:p>
            <a:pPr marL="342900" lvl="1" indent="0">
              <a:buNone/>
            </a:pPr>
            <a:endParaRPr lang="en-US" altLang="zh-TW" dirty="0"/>
          </a:p>
          <a:p>
            <a:r>
              <a:rPr lang="zh-TW" altLang="en-US" b="1" dirty="0"/>
              <a:t>從 </a:t>
            </a:r>
            <a:r>
              <a:rPr lang="en-US" altLang="zh-TW" b="1" dirty="0"/>
              <a:t>Marketplace </a:t>
            </a:r>
            <a:r>
              <a:rPr lang="zh-TW" altLang="en-US" b="1" dirty="0"/>
              <a:t>安裝</a:t>
            </a:r>
            <a:endParaRPr lang="en-US" altLang="zh-TW" b="1" dirty="0"/>
          </a:p>
          <a:p>
            <a:pPr marL="342900" lvl="1" indent="0">
              <a:buNone/>
            </a:pPr>
            <a:r>
              <a:rPr lang="en-US" altLang="zh-TW" dirty="0"/>
              <a:t>1. Extensions </a:t>
            </a:r>
            <a:r>
              <a:rPr lang="zh-TW" altLang="en-US" dirty="0"/>
              <a:t>搜尋欄輸入 </a:t>
            </a:r>
            <a:r>
              <a:rPr lang="en-US" altLang="zh-TW" dirty="0" err="1"/>
              <a:t>Holtek</a:t>
            </a:r>
            <a:r>
              <a:rPr lang="en-US" altLang="zh-TW" dirty="0"/>
              <a:t> Project Assistant</a:t>
            </a:r>
          </a:p>
          <a:p>
            <a:pPr marL="342900" lvl="1" indent="0">
              <a:buNone/>
            </a:pPr>
            <a:r>
              <a:rPr lang="en-US" altLang="zh-TW" dirty="0"/>
              <a:t>2. </a:t>
            </a:r>
            <a:r>
              <a:rPr lang="zh-TW" altLang="en-US" dirty="0"/>
              <a:t>點 </a:t>
            </a:r>
            <a:r>
              <a:rPr lang="en-US" altLang="zh-TW" b="1" dirty="0"/>
              <a:t>Install</a:t>
            </a:r>
            <a:endParaRPr lang="en-US" altLang="zh-TW" dirty="0"/>
          </a:p>
          <a:p>
            <a:pPr marL="342900" lvl="1" indent="0">
              <a:buNone/>
            </a:pPr>
            <a:endParaRPr lang="en-US" altLang="zh-TW" dirty="0"/>
          </a:p>
          <a:p>
            <a:endParaRPr lang="zh-TW" altLang="en-US" dirty="0"/>
          </a:p>
          <a:p>
            <a:pPr marL="342900" lvl="1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1AFCDA90-4917-85AE-8E97-4E74E3E4342C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pic>
        <p:nvPicPr>
          <p:cNvPr id="8" name="圖片 7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A7D4B200-1DC1-9E13-FA56-971FB45CC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336" y="1421318"/>
            <a:ext cx="3417942" cy="1457584"/>
          </a:xfrm>
          <a:prstGeom prst="rect">
            <a:avLst/>
          </a:prstGeom>
        </p:spPr>
      </p:pic>
      <p:pic>
        <p:nvPicPr>
          <p:cNvPr id="10" name="圖片 9" descr="一張含有 文字, 螢幕擷取畫面, 軟體, 陳列 的圖片&#10;&#10;AI 產生的內容可能不正確。">
            <a:extLst>
              <a:ext uri="{FF2B5EF4-FFF2-40B4-BE49-F238E27FC236}">
                <a16:creationId xmlns:a16="http://schemas.microsoft.com/office/drawing/2014/main" id="{1E7D9989-05BA-2577-3E92-A44A58029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737" y="2945501"/>
            <a:ext cx="2488541" cy="1513649"/>
          </a:xfrm>
          <a:prstGeom prst="rect">
            <a:avLst/>
          </a:prstGeom>
        </p:spPr>
      </p:pic>
      <p:pic>
        <p:nvPicPr>
          <p:cNvPr id="12" name="圖片 11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7FBA99EF-AAF1-5DA2-AE56-A0DB2FC78E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4349" y="2952878"/>
            <a:ext cx="2417641" cy="1693463"/>
          </a:xfrm>
          <a:prstGeom prst="rect">
            <a:avLst/>
          </a:prstGeom>
        </p:spPr>
      </p:pic>
      <p:sp>
        <p:nvSpPr>
          <p:cNvPr id="13" name="橢圓 12">
            <a:extLst>
              <a:ext uri="{FF2B5EF4-FFF2-40B4-BE49-F238E27FC236}">
                <a16:creationId xmlns:a16="http://schemas.microsoft.com/office/drawing/2014/main" id="{E5F18947-144A-943F-E780-0929E03B8EBE}"/>
              </a:ext>
            </a:extLst>
          </p:cNvPr>
          <p:cNvSpPr/>
          <p:nvPr/>
        </p:nvSpPr>
        <p:spPr>
          <a:xfrm>
            <a:off x="4036741" y="3702325"/>
            <a:ext cx="401444" cy="30468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CEFE667A-3CA4-4A5B-4F79-9A508E3FAB51}"/>
              </a:ext>
            </a:extLst>
          </p:cNvPr>
          <p:cNvSpPr/>
          <p:nvPr/>
        </p:nvSpPr>
        <p:spPr>
          <a:xfrm>
            <a:off x="2038944" y="4306745"/>
            <a:ext cx="401444" cy="30468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D2CA616-CC93-458E-9BED-27D80822FB19}"/>
              </a:ext>
            </a:extLst>
          </p:cNvPr>
          <p:cNvSpPr/>
          <p:nvPr/>
        </p:nvSpPr>
        <p:spPr>
          <a:xfrm>
            <a:off x="7198980" y="1355702"/>
            <a:ext cx="401444" cy="3046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91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1FCFF-7B23-917B-A53F-49127CC7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D8F9F64-AE35-2819-8823-1D8C35A4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7F81215-BA51-A3FD-F305-F207834F7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介面介紹</a:t>
            </a:r>
            <a:r>
              <a:rPr lang="en-US" altLang="zh-TW" dirty="0"/>
              <a:t>(1)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F07A2F-B2D1-3E69-19BB-828FECB4A1A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6300" y="1110454"/>
            <a:ext cx="5433959" cy="1878073"/>
          </a:xfrm>
          <a:prstGeom prst="rect">
            <a:avLst/>
          </a:prstGeom>
        </p:spPr>
        <p:txBody>
          <a:bodyPr/>
          <a:lstStyle/>
          <a:p>
            <a:r>
              <a:rPr lang="zh-TW" altLang="en-US" b="1" dirty="0"/>
              <a:t>專案未開啟</a:t>
            </a:r>
            <a:endParaRPr lang="en-US" altLang="zh-TW" b="1" dirty="0"/>
          </a:p>
          <a:p>
            <a:pPr lvl="1"/>
            <a:r>
              <a:rPr lang="zh-TW" altLang="en-US" dirty="0"/>
              <a:t>安裝後，左側 </a:t>
            </a:r>
            <a:r>
              <a:rPr lang="en-US" altLang="zh-TW" dirty="0"/>
              <a:t>Activity Bar </a:t>
            </a:r>
            <a:r>
              <a:rPr lang="zh-TW" altLang="en-US" dirty="0"/>
              <a:t>出現 </a:t>
            </a:r>
            <a:r>
              <a:rPr lang="en-US" altLang="zh-TW" b="1" dirty="0"/>
              <a:t>HT32 </a:t>
            </a:r>
            <a:r>
              <a:rPr lang="zh-TW" altLang="en-US" b="1" dirty="0"/>
              <a:t>圖示</a:t>
            </a:r>
            <a:r>
              <a:rPr lang="zh-TW" altLang="en-US" dirty="0"/>
              <a:t>，點擊展開 </a:t>
            </a:r>
            <a:r>
              <a:rPr lang="en-US" altLang="zh-TW" dirty="0"/>
              <a:t>HT32 </a:t>
            </a:r>
            <a:r>
              <a:rPr lang="zh-TW" altLang="en-US" dirty="0"/>
              <a:t>面板。</a:t>
            </a:r>
          </a:p>
          <a:p>
            <a:pPr lvl="1"/>
            <a:r>
              <a:rPr lang="zh-TW" altLang="en-US" dirty="0"/>
              <a:t>專案未開啟時顯示 </a:t>
            </a:r>
            <a:r>
              <a:rPr lang="en-US" altLang="zh-TW" b="1" dirty="0"/>
              <a:t>Create / Open / Convert</a:t>
            </a:r>
            <a:r>
              <a:rPr lang="en-US" altLang="zh-TW" dirty="0"/>
              <a:t> </a:t>
            </a:r>
            <a:r>
              <a:rPr lang="zh-TW" altLang="en-US" dirty="0"/>
              <a:t>按鈕；</a:t>
            </a:r>
            <a:endParaRPr lang="en-US" altLang="zh-TW" dirty="0"/>
          </a:p>
          <a:p>
            <a:pPr lvl="1"/>
            <a:r>
              <a:rPr lang="zh-TW" altLang="en-US" dirty="0"/>
              <a:t>若有歷史記錄，下方會列出 </a:t>
            </a:r>
            <a:r>
              <a:rPr lang="zh-TW" altLang="en-US" b="1" dirty="0"/>
              <a:t>**</a:t>
            </a:r>
            <a:r>
              <a:rPr lang="en-US" altLang="zh-TW" b="1" dirty="0"/>
              <a:t>Recent Projects**</a:t>
            </a:r>
            <a:r>
              <a:rPr lang="zh-TW" altLang="en-US" dirty="0"/>
              <a:t>，點擊即可直接開啟。</a:t>
            </a:r>
          </a:p>
          <a:p>
            <a:pPr marL="342900" lvl="1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0054A80C-5773-AB1B-CEC9-37E653B4748E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pic>
        <p:nvPicPr>
          <p:cNvPr id="8" name="圖片 7" descr="一張含有 文字, 螢幕擷取畫面, 軟體, 設計 的圖片&#10;&#10;AI 產生的內容可能不正確。">
            <a:extLst>
              <a:ext uri="{FF2B5EF4-FFF2-40B4-BE49-F238E27FC236}">
                <a16:creationId xmlns:a16="http://schemas.microsoft.com/office/drawing/2014/main" id="{5920C7A1-2A1B-AB87-E7A9-FFB7DD206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110454"/>
            <a:ext cx="2466890" cy="319278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0F28388-7590-70E5-A824-B4DBD4D9DF76}"/>
              </a:ext>
            </a:extLst>
          </p:cNvPr>
          <p:cNvSpPr/>
          <p:nvPr/>
        </p:nvSpPr>
        <p:spPr>
          <a:xfrm>
            <a:off x="6244218" y="3131997"/>
            <a:ext cx="282962" cy="332315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5E66F5-DE7F-64A4-FFE0-318EDEEDB4D8}"/>
              </a:ext>
            </a:extLst>
          </p:cNvPr>
          <p:cNvSpPr/>
          <p:nvPr/>
        </p:nvSpPr>
        <p:spPr>
          <a:xfrm>
            <a:off x="6538098" y="3866888"/>
            <a:ext cx="2092945" cy="370575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5762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C1EAA-653B-2FFA-0281-5B5B2A387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EB1B860B-813B-68F8-9191-5ADD4CCA3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09" y="1136780"/>
            <a:ext cx="2292291" cy="322707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8571D49-8F73-3BD8-B8CD-DF5291D26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B4989B-E274-06A0-8BEC-5C5BFC66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介面介紹</a:t>
            </a:r>
            <a:r>
              <a:rPr lang="en-US" altLang="zh-TW" dirty="0"/>
              <a:t>(2)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0F892A3-BB9F-B8F6-6C2B-1DC7F0EF5C8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6300" y="921834"/>
            <a:ext cx="5433959" cy="3791106"/>
          </a:xfrm>
          <a:prstGeom prst="rect">
            <a:avLst/>
          </a:prstGeom>
        </p:spPr>
        <p:txBody>
          <a:bodyPr/>
          <a:lstStyle/>
          <a:p>
            <a:r>
              <a:rPr lang="zh-TW" altLang="en-US" b="1" dirty="0"/>
              <a:t>專案已開啟</a:t>
            </a:r>
            <a:r>
              <a:rPr lang="en-US" altLang="zh-TW" b="1" dirty="0"/>
              <a:t>-</a:t>
            </a:r>
            <a:r>
              <a:rPr lang="zh-TW" altLang="en-US" b="1" dirty="0"/>
              <a:t>工具列</a:t>
            </a:r>
            <a:endParaRPr lang="en-US" altLang="zh-TW" b="1" dirty="0"/>
          </a:p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en-US" altLang="zh-TW" b="1" dirty="0"/>
          </a:p>
          <a:p>
            <a:endParaRPr lang="en-US" altLang="zh-TW" sz="800" b="1" dirty="0"/>
          </a:p>
          <a:p>
            <a:r>
              <a:rPr lang="zh-TW" altLang="en-US" b="1" dirty="0"/>
              <a:t>專案已開啟</a:t>
            </a:r>
            <a:r>
              <a:rPr lang="en-US" altLang="zh-TW" b="1" dirty="0"/>
              <a:t>-</a:t>
            </a:r>
            <a:r>
              <a:rPr lang="zh-TW" altLang="en-US" b="1" dirty="0"/>
              <a:t>專案檔案樹</a:t>
            </a:r>
            <a:endParaRPr lang="en-US" altLang="zh-TW" b="1" dirty="0"/>
          </a:p>
          <a:p>
            <a:pPr lvl="1"/>
            <a:r>
              <a:rPr lang="en-US" altLang="zh-TW" dirty="0"/>
              <a:t>HT32 </a:t>
            </a:r>
            <a:r>
              <a:rPr lang="zh-TW" altLang="en-US" dirty="0"/>
              <a:t>面板下方顯示專案的原始碼群組結構</a:t>
            </a:r>
            <a:r>
              <a:rPr lang="en-US" altLang="zh-TW" dirty="0"/>
              <a:t>(Source Groups),</a:t>
            </a:r>
            <a:r>
              <a:rPr lang="zh-TW" altLang="en-US" dirty="0"/>
              <a:t>與 </a:t>
            </a:r>
            <a:r>
              <a:rPr lang="en-US" altLang="zh-TW" dirty="0"/>
              <a:t>Keil </a:t>
            </a:r>
            <a:r>
              <a:rPr lang="en-US" altLang="zh-TW" dirty="0" err="1"/>
              <a:t>uVision</a:t>
            </a:r>
            <a:r>
              <a:rPr lang="en-US" altLang="zh-TW" dirty="0"/>
              <a:t> </a:t>
            </a:r>
            <a:r>
              <a:rPr lang="zh-TW" altLang="en-US" dirty="0"/>
              <a:t>的群組概念相同。</a:t>
            </a:r>
            <a:endParaRPr lang="en-US" altLang="zh-TW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dirty="0"/>
              <a:t>右鍵選單支援以下操作：</a:t>
            </a:r>
          </a:p>
          <a:p>
            <a:pPr marL="342900" lvl="1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5A4D358C-6E77-0C52-EB18-AD0037F868FC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graphicFrame>
        <p:nvGraphicFramePr>
          <p:cNvPr id="19" name="Content Placeholder 5">
            <a:extLst>
              <a:ext uri="{FF2B5EF4-FFF2-40B4-BE49-F238E27FC236}">
                <a16:creationId xmlns:a16="http://schemas.microsoft.com/office/drawing/2014/main" id="{7CBBC5E6-93AB-EA12-0046-D4A123C8AD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5626607"/>
              </p:ext>
            </p:extLst>
          </p:nvPr>
        </p:nvGraphicFramePr>
        <p:xfrm>
          <a:off x="2298005" y="3835186"/>
          <a:ext cx="3698192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4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000" dirty="0"/>
                        <a:t>對象</a:t>
                      </a:r>
                      <a:endParaRPr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000" dirty="0"/>
                        <a:t>操作</a:t>
                      </a:r>
                      <a:endParaRPr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50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000" dirty="0"/>
                        <a:t>專案根結點</a:t>
                      </a:r>
                      <a:endParaRPr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000" dirty="0"/>
                        <a:t>新增群組</a:t>
                      </a:r>
                      <a:endParaRPr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50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000" dirty="0"/>
                        <a:t>群組</a:t>
                      </a:r>
                      <a:endParaRPr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000" dirty="0"/>
                        <a:t>新增檔案或移除群組</a:t>
                      </a:r>
                      <a:endParaRPr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50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000" dirty="0"/>
                        <a:t>檔案</a:t>
                      </a:r>
                      <a:endParaRPr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從群組移除、從磁碟刪除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F70707D7-2AA1-B043-8671-2FFF05E97C4F}"/>
              </a:ext>
            </a:extLst>
          </p:cNvPr>
          <p:cNvSpPr/>
          <p:nvPr/>
        </p:nvSpPr>
        <p:spPr>
          <a:xfrm>
            <a:off x="7399702" y="1136780"/>
            <a:ext cx="1237778" cy="272920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8AFAAAA-0617-F33D-BE25-C9B80FF99773}"/>
              </a:ext>
            </a:extLst>
          </p:cNvPr>
          <p:cNvSpPr/>
          <p:nvPr/>
        </p:nvSpPr>
        <p:spPr>
          <a:xfrm>
            <a:off x="7222319" y="2825756"/>
            <a:ext cx="1237778" cy="389634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EDC107B7-78F9-FF71-17B7-865218D922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1562613"/>
              </p:ext>
            </p:extLst>
          </p:nvPr>
        </p:nvGraphicFramePr>
        <p:xfrm>
          <a:off x="1049067" y="1276370"/>
          <a:ext cx="4841192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305">
                  <a:extLst>
                    <a:ext uri="{9D8B030D-6E8A-4147-A177-3AD203B41FA5}">
                      <a16:colId xmlns:a16="http://schemas.microsoft.com/office/drawing/2014/main" val="276198477"/>
                    </a:ext>
                  </a:extLst>
                </a:gridCol>
                <a:gridCol w="1445904">
                  <a:extLst>
                    <a:ext uri="{9D8B030D-6E8A-4147-A177-3AD203B41FA5}">
                      <a16:colId xmlns:a16="http://schemas.microsoft.com/office/drawing/2014/main" val="1935889975"/>
                    </a:ext>
                  </a:extLst>
                </a:gridCol>
              </a:tblGrid>
              <a:tr h="20293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000" dirty="0"/>
                        <a:t>按鈕</a:t>
                      </a:r>
                      <a:endParaRPr sz="10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000" dirty="0"/>
                        <a:t>功能</a:t>
                      </a:r>
                      <a:endParaRPr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000" dirty="0"/>
                        <a:t>按鈕</a:t>
                      </a:r>
                      <a:endParaRPr sz="10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000" dirty="0"/>
                        <a:t>功能</a:t>
                      </a:r>
                      <a:endParaRPr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93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00" b="1" dirty="0"/>
                        <a:t>Build</a:t>
                      </a:r>
                      <a:endParaRPr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000" dirty="0"/>
                        <a:t>編譯</a:t>
                      </a:r>
                      <a:endParaRPr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00" b="1" dirty="0"/>
                        <a:t>Download</a:t>
                      </a:r>
                      <a:endParaRPr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000" dirty="0"/>
                        <a:t>燒錄</a:t>
                      </a:r>
                      <a:endParaRPr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93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altLang="zh-TW" sz="1000" b="1" dirty="0"/>
                        <a:t>Debug/Attach</a:t>
                      </a:r>
                      <a:endParaRPr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000" dirty="0"/>
                        <a:t>除錯</a:t>
                      </a:r>
                      <a:endParaRPr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00" b="1" dirty="0"/>
                        <a:t>Settings</a:t>
                      </a:r>
                      <a:endParaRPr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TW" altLang="en-US" sz="1000" dirty="0"/>
                        <a:t>專案設定</a:t>
                      </a:r>
                      <a:endParaRPr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5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00" b="1" dirty="0"/>
                        <a:t>Clean</a:t>
                      </a:r>
                      <a:endParaRPr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清除編譯中介檔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Generate</a:t>
                      </a:r>
                      <a:endParaRPr lang="zh-TW" altLang="en-US" sz="1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重新產生 </a:t>
                      </a:r>
                      <a:r>
                        <a:rPr lang="en-US" altLang="zh-TW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tasks.json</a:t>
                      </a:r>
                      <a:r>
                        <a:rPr lang="en-US" altLang="zh-TW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en-US" altLang="zh-TW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launch.json</a:t>
                      </a:r>
                      <a:r>
                        <a:rPr lang="en-US" altLang="zh-TW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en-US" altLang="zh-TW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Makefile</a:t>
                      </a:r>
                      <a:endParaRPr lang="en-US" altLang="zh-TW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097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3D3E6-DE6D-E6EB-AFAC-4BEAC2E6D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5C19D39-0C3B-0E9C-5E16-3629F3D2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495D314-A1D0-5970-9DEB-BBC0A65BF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建立新專案</a:t>
            </a:r>
            <a:r>
              <a:rPr lang="en-US" altLang="zh-TW" dirty="0"/>
              <a:t>(1)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CF26BC7-9A36-1D75-D056-C2E17E7B686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6300" y="1110454"/>
            <a:ext cx="4457671" cy="3602486"/>
          </a:xfrm>
          <a:prstGeom prst="rect">
            <a:avLst/>
          </a:prstGeom>
        </p:spPr>
        <p:txBody>
          <a:bodyPr/>
          <a:lstStyle/>
          <a:p>
            <a:r>
              <a:rPr lang="zh-TW" altLang="en-US" sz="1400" dirty="0"/>
              <a:t>請先準備好 </a:t>
            </a:r>
            <a:r>
              <a:rPr lang="en-US" altLang="zh-TW" sz="1400" dirty="0"/>
              <a:t>HT32 </a:t>
            </a:r>
            <a:r>
              <a:rPr lang="en-US" altLang="zh-TW" sz="1400" dirty="0" err="1"/>
              <a:t>FWLib</a:t>
            </a:r>
            <a:endParaRPr lang="en-US" altLang="zh-TW" b="1" dirty="0"/>
          </a:p>
          <a:p>
            <a:pPr marL="685800" lvl="1" indent="-342900">
              <a:buAutoNum type="arabicPeriod"/>
            </a:pPr>
            <a:r>
              <a:rPr lang="en-US" altLang="zh-TW" dirty="0"/>
              <a:t>HT32 </a:t>
            </a:r>
            <a:r>
              <a:rPr lang="zh-TW" altLang="en-US" dirty="0"/>
              <a:t>面板 → </a:t>
            </a:r>
            <a:r>
              <a:rPr lang="en-US" altLang="zh-TW" b="1" dirty="0"/>
              <a:t>Create Project</a:t>
            </a:r>
            <a:endParaRPr lang="en-US" altLang="zh-TW" dirty="0"/>
          </a:p>
          <a:p>
            <a:pPr marL="685800" lvl="1" indent="-342900">
              <a:buAutoNum type="arabicPeriod"/>
            </a:pPr>
            <a:r>
              <a:rPr lang="zh-TW" altLang="en-US" dirty="0"/>
              <a:t>依精靈步驟選擇： </a:t>
            </a:r>
            <a:endParaRPr lang="en-US" altLang="zh-TW" dirty="0"/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685800" lvl="1" indent="-342900">
              <a:buAutoNum type="arabicPeriod"/>
            </a:pPr>
            <a:endParaRPr lang="en-US" altLang="zh-TW" dirty="0"/>
          </a:p>
          <a:p>
            <a:pPr marL="342900" lvl="1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80523772-1346-EC43-2219-78BD0BF0C0E3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pic>
        <p:nvPicPr>
          <p:cNvPr id="11" name="圖片 10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C69272AE-1516-31CC-7DC6-DC59A1E85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782" y="2097313"/>
            <a:ext cx="2328758" cy="2252857"/>
          </a:xfrm>
          <a:prstGeom prst="rect">
            <a:avLst/>
          </a:prstGeom>
        </p:spPr>
      </p:pic>
      <p:graphicFrame>
        <p:nvGraphicFramePr>
          <p:cNvPr id="12" name="Content Placeholder 5">
            <a:extLst>
              <a:ext uri="{FF2B5EF4-FFF2-40B4-BE49-F238E27FC236}">
                <a16:creationId xmlns:a16="http://schemas.microsoft.com/office/drawing/2014/main" id="{26275E86-4C8C-8F24-2902-62B20770DA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9792252"/>
              </p:ext>
            </p:extLst>
          </p:nvPr>
        </p:nvGraphicFramePr>
        <p:xfrm>
          <a:off x="1248767" y="2097313"/>
          <a:ext cx="3021424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7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000" dirty="0" err="1"/>
                        <a:t>步驟</a:t>
                      </a:r>
                      <a:endParaRPr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000" dirty="0" err="1"/>
                        <a:t>內容</a:t>
                      </a:r>
                      <a:endParaRPr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000"/>
                        <a:t>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000" dirty="0" err="1"/>
                        <a:t>選擇</a:t>
                      </a:r>
                      <a:r>
                        <a:rPr sz="1000" dirty="0"/>
                        <a:t> </a:t>
                      </a:r>
                      <a:r>
                        <a:rPr sz="1000" b="1" dirty="0"/>
                        <a:t>HT32 </a:t>
                      </a:r>
                      <a:r>
                        <a:rPr sz="1000" b="1" dirty="0" err="1"/>
                        <a:t>FWLib</a:t>
                      </a:r>
                      <a:r>
                        <a:rPr sz="1000" b="1" dirty="0"/>
                        <a:t> </a:t>
                      </a:r>
                      <a:r>
                        <a:rPr sz="1000" b="1" dirty="0" err="1"/>
                        <a:t>根目錄</a:t>
                      </a:r>
                      <a:endParaRPr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000"/>
                        <a:t>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000"/>
                        <a:t>選擇 </a:t>
                      </a:r>
                      <a:r>
                        <a:rPr sz="1000" b="1"/>
                        <a:t>MCU 型號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000"/>
                        <a:t>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000"/>
                        <a:t>選擇輸出類型：</a:t>
                      </a:r>
                      <a:r>
                        <a:rPr sz="1000" b="1"/>
                        <a:t>Application</a:t>
                      </a:r>
                      <a:r>
                        <a:rPr sz="1000"/>
                        <a:t> 或 </a:t>
                      </a:r>
                      <a:r>
                        <a:rPr sz="1000" b="1"/>
                        <a:t>Library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000"/>
                        <a:t>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000" dirty="0" err="1"/>
                        <a:t>輸入</a:t>
                      </a:r>
                      <a:r>
                        <a:rPr sz="1000" b="1" dirty="0" err="1"/>
                        <a:t>專案名稱</a:t>
                      </a:r>
                      <a:r>
                        <a:rPr sz="1000" dirty="0" err="1"/>
                        <a:t>和儲存位置</a:t>
                      </a:r>
                      <a:endParaRPr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074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CDD51-E2AA-7737-7E85-4E0A9591E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498B4A6-65F4-4A1B-6C8A-A81C1E67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55E3746-EF29-E62B-2625-A7ACEA8BD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建立新專案</a:t>
            </a:r>
            <a:r>
              <a:rPr lang="en-US" altLang="zh-TW" dirty="0"/>
              <a:t>(2)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0BBD4D-D4BD-68EF-05D2-BD848D0EAC7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4983" y="1110454"/>
            <a:ext cx="4457671" cy="495322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產生的檔案結構及專案樹如圖</a:t>
            </a:r>
            <a:endParaRPr lang="en-US" altLang="zh-TW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3B0E154E-AF08-FF35-5FC2-187A01D45FDB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pic>
        <p:nvPicPr>
          <p:cNvPr id="6" name="圖片 5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9BCE90EA-85A6-7693-A124-81CBF749E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466" y="1689578"/>
            <a:ext cx="2902364" cy="2341737"/>
          </a:xfrm>
          <a:prstGeom prst="rect">
            <a:avLst/>
          </a:prstGeom>
        </p:spPr>
      </p:pic>
      <p:pic>
        <p:nvPicPr>
          <p:cNvPr id="8" name="圖片 7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E087E8E1-9A07-C389-448E-854082E21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156" y="1043854"/>
            <a:ext cx="2619717" cy="363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57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A0DE6-3A2D-801F-D698-E8B60050B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636437C-7096-5A4B-61D4-70AA5117F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D541664-DE58-4FA5-5875-1009D89A9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匯入</a:t>
            </a:r>
            <a:r>
              <a:rPr lang="en-US" altLang="zh-TW" dirty="0"/>
              <a:t>Keil</a:t>
            </a:r>
            <a:r>
              <a:rPr lang="zh-TW" altLang="en-US" dirty="0"/>
              <a:t>專案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8F7101-6B24-1DD9-7F31-D9DB31A096D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1996" y="869588"/>
            <a:ext cx="6020242" cy="394095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請先準備好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HT32 </a:t>
            </a:r>
            <a:r>
              <a:rPr lang="en-US" altLang="zh-TW" sz="1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FWLib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lnSpc>
                <a:spcPct val="100000"/>
              </a:lnSpc>
              <a:buAutoNum type="arabicPeriod"/>
            </a:pP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HT32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面板 → </a:t>
            </a:r>
            <a:r>
              <a:rPr lang="en-US" alt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Convert </a:t>
            </a:r>
            <a:r>
              <a:rPr lang="en-US" altLang="zh-TW" sz="11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uVision</a:t>
            </a:r>
            <a:r>
              <a:rPr lang="en-US" alt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Project</a:t>
            </a:r>
          </a:p>
          <a:p>
            <a:pPr marL="685800" lvl="1" indent="-342900">
              <a:buAutoNum type="arabicPeriod"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選取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uvprojx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（單一專案）或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uvmpw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（多專案）</a:t>
            </a: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buAutoNum type="arabicPeriod"/>
            </a:pP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uvmpw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會將所有子專案</a:t>
            </a:r>
            <a:r>
              <a:rPr lang="zh-TW" altLang="en-US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一次全部轉換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100" dirty="0"/>
              <a:t>產生獨立的 </a:t>
            </a:r>
            <a:r>
              <a:rPr lang="en-US" altLang="zh-TW" sz="1100" dirty="0"/>
              <a:t>build-gen-{suffix}</a:t>
            </a:r>
            <a:r>
              <a:rPr lang="zh-TW" altLang="en-US" sz="1100" dirty="0"/>
              <a:t>目錄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，並同時顯示在</a:t>
            </a: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treeview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中。</a:t>
            </a: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自動產生：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Makefile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MCU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型號、編譯旗標、來源檔案）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linker_script.ld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（從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Keil scatter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轉換）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startup_xxx_gcc.s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（從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Keil startup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轉換）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compile_commands.json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tasks.json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launch.json</a:t>
            </a:r>
            <a:endParaRPr lang="en-US" altLang="zh-TW" sz="11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TW" altLang="en-US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單一 </a:t>
            </a:r>
            <a:r>
              <a:rPr lang="en-US" alt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en-US" altLang="zh-TW" sz="11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uvprojx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: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輸出至 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vscode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/build-gen/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en-US" altLang="zh-TW" sz="11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uvmpw</a:t>
            </a:r>
            <a:r>
              <a:rPr lang="en-US" alt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</a:t>
            </a:r>
            <a:r>
              <a:rPr lang="zh-TW" altLang="en-US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多專案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—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每個子專案各一個目錄</a:t>
            </a: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轉換警告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TW" altLang="en-US" sz="1000" dirty="0"/>
              <a:t>如 </a:t>
            </a:r>
            <a:r>
              <a:rPr lang="en-US" altLang="zh-TW" sz="1000" dirty="0"/>
              <a:t>Keil </a:t>
            </a:r>
            <a:r>
              <a:rPr lang="zh-TW" altLang="en-US" sz="1000" dirty="0"/>
              <a:t>預編譯 </a:t>
            </a:r>
            <a:r>
              <a:rPr lang="en-US" altLang="zh-TW" sz="1000" dirty="0"/>
              <a:t>.lib </a:t>
            </a:r>
            <a:r>
              <a:rPr lang="zh-TW" altLang="en-US" sz="1000" dirty="0"/>
              <a:t>無法用於 </a:t>
            </a:r>
            <a:r>
              <a:rPr lang="en-US" altLang="zh-TW" sz="1000" dirty="0"/>
              <a:t>GCC </a:t>
            </a:r>
            <a:r>
              <a:rPr lang="zh-TW" altLang="en-US" sz="1000" dirty="0"/>
              <a:t>工具鏈）會顯示在</a:t>
            </a:r>
            <a:r>
              <a:rPr lang="en-US" altLang="zh-TW" sz="1000" dirty="0"/>
              <a:t>VS Code 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altLang="zh-TW" sz="1000" b="1" dirty="0"/>
              <a:t>Problems</a:t>
            </a:r>
            <a:r>
              <a:rPr lang="en-US" altLang="zh-TW" sz="1000" dirty="0"/>
              <a:t> </a:t>
            </a:r>
            <a:r>
              <a:rPr lang="zh-TW" altLang="en-US" sz="1000" dirty="0"/>
              <a:t>面板中。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1" indent="0"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357EA80A-90EF-7256-873E-C79E610C9090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pic>
        <p:nvPicPr>
          <p:cNvPr id="6" name="圖片 5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3237F943-6C37-8C36-1C0E-3B9DF2847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780" y="794329"/>
            <a:ext cx="1967520" cy="3897741"/>
          </a:xfrm>
          <a:prstGeom prst="rect">
            <a:avLst/>
          </a:prstGeom>
        </p:spPr>
      </p:pic>
      <p:pic>
        <p:nvPicPr>
          <p:cNvPr id="9" name="圖片 8" descr="一張含有 文字, 字型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0E28DDDE-C863-01D2-4D68-AC98CB883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122" y="3091870"/>
            <a:ext cx="1565787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205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1CB6C-7303-BBCF-2D05-6EE33DB2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9EF0985-BFB2-9A8C-E17D-7247F5D66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2770E86-2385-FDC1-10DF-780205F7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匯入</a:t>
            </a:r>
            <a:r>
              <a:rPr lang="en-US" altLang="zh-TW" dirty="0"/>
              <a:t>HT32-IDE</a:t>
            </a:r>
            <a:r>
              <a:rPr lang="zh-TW" altLang="en-US" dirty="0"/>
              <a:t>專案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7C0DC01-DBC3-4BEC-59FB-006A1899A4C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95454" y="1137424"/>
            <a:ext cx="7384198" cy="367312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請先準備好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HT32 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FWLib</a:t>
            </a:r>
            <a:endParaRPr lang="en-US" altLang="zh-TW" dirty="0"/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altLang="zh-TW" dirty="0"/>
              <a:t>HT32 </a:t>
            </a:r>
            <a:r>
              <a:rPr lang="zh-TW" altLang="en-US" dirty="0"/>
              <a:t>面板 → </a:t>
            </a:r>
            <a:r>
              <a:rPr lang="en-US" altLang="zh-TW" b="1" dirty="0"/>
              <a:t>Convert HT32-IDE Project</a:t>
            </a:r>
            <a:endParaRPr lang="en-US" altLang="zh-TW" dirty="0"/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zh-TW" altLang="en-US" dirty="0"/>
              <a:t>選取包含 </a:t>
            </a:r>
            <a:r>
              <a:rPr lang="en-US" altLang="zh-TW" dirty="0"/>
              <a:t>.project / .</a:t>
            </a:r>
            <a:r>
              <a:rPr lang="en-US" altLang="zh-TW" dirty="0" err="1"/>
              <a:t>cproject</a:t>
            </a:r>
            <a:r>
              <a:rPr lang="en-US" altLang="zh-TW" dirty="0"/>
              <a:t> </a:t>
            </a:r>
            <a:r>
              <a:rPr lang="zh-TW" altLang="en-US" dirty="0"/>
              <a:t>的</a:t>
            </a:r>
            <a:r>
              <a:rPr lang="zh-TW" altLang="en-US" b="1" dirty="0"/>
              <a:t>專案資料夾</a:t>
            </a:r>
            <a:endParaRPr lang="en-US" altLang="zh-TW" b="1" dirty="0"/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zh-TW" altLang="en-US" dirty="0"/>
              <a:t>若所選資料夾下有多個子專案，會</a:t>
            </a:r>
            <a:r>
              <a:rPr lang="zh-TW" altLang="en-US" b="1" dirty="0"/>
              <a:t>一次全部轉換</a:t>
            </a:r>
            <a:r>
              <a:rPr lang="zh-TW" altLang="en-US" dirty="0"/>
              <a:t>，每個子專案各產生獨立的 </a:t>
            </a:r>
            <a:r>
              <a:rPr lang="en-US" altLang="zh-TW" dirty="0"/>
              <a:t>build-gen-{suffix}</a:t>
            </a:r>
            <a:r>
              <a:rPr lang="zh-TW" altLang="en-US" dirty="0"/>
              <a:t>目錄，並同時顯示在 </a:t>
            </a:r>
            <a:r>
              <a:rPr lang="en-US" altLang="zh-TW" dirty="0" err="1"/>
              <a:t>TreeView</a:t>
            </a:r>
            <a:r>
              <a:rPr lang="en-US" altLang="zh-TW" dirty="0"/>
              <a:t> </a:t>
            </a:r>
            <a:r>
              <a:rPr lang="zh-TW" altLang="en-US" dirty="0"/>
              <a:t>中。</a:t>
            </a:r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endParaRPr lang="en-US" altLang="zh-TW" sz="11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自動產生：</a:t>
            </a:r>
          </a:p>
          <a:p>
            <a:pPr lvl="1"/>
            <a:r>
              <a:rPr lang="zh-TW" altLang="en-US" dirty="0"/>
              <a:t>產生的檔案與 </a:t>
            </a:r>
            <a:r>
              <a:rPr lang="en-US" altLang="zh-TW" dirty="0" err="1"/>
              <a:t>uVision</a:t>
            </a:r>
            <a:r>
              <a:rPr lang="en-US" altLang="zh-TW" dirty="0"/>
              <a:t> </a:t>
            </a:r>
            <a:r>
              <a:rPr lang="zh-TW" altLang="en-US" dirty="0"/>
              <a:t>匯入相同。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轉換警告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TW" altLang="en-US" dirty="0"/>
              <a:t>如缺少檔案等會顯示在</a:t>
            </a:r>
            <a:r>
              <a:rPr lang="en-US" altLang="zh-TW" dirty="0"/>
              <a:t>VS Code </a:t>
            </a:r>
            <a:r>
              <a:rPr lang="en-US" altLang="zh-TW" b="1" dirty="0"/>
              <a:t>Problems</a:t>
            </a:r>
            <a:r>
              <a:rPr lang="en-US" altLang="zh-TW" dirty="0"/>
              <a:t> </a:t>
            </a:r>
            <a:r>
              <a:rPr lang="zh-TW" altLang="en-US" dirty="0"/>
              <a:t>面板中。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1" indent="0"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98C06512-1E9F-8E97-3711-B229026AA0C1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218881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D674C-F91A-2DDE-8FC2-0B4C30EF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2C907E0-C41E-08B4-C580-626161258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32963BE-709E-E93F-3EC4-D421200C8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建置</a:t>
            </a:r>
            <a:r>
              <a:rPr lang="en-US" altLang="zh-TW" dirty="0"/>
              <a:t>/</a:t>
            </a:r>
            <a:r>
              <a:rPr lang="zh-TW" altLang="en-US" dirty="0"/>
              <a:t>清除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7079D59-F883-4C68-B038-FA7F28694AD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0640" y="869588"/>
            <a:ext cx="7919360" cy="394095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HT32 </a:t>
            </a:r>
            <a:r>
              <a:rPr lang="zh-TW" altLang="en-US" dirty="0"/>
              <a:t>工具列點 </a:t>
            </a:r>
            <a:r>
              <a:rPr lang="en-US" altLang="zh-TW" b="1" dirty="0"/>
              <a:t>Build</a:t>
            </a:r>
          </a:p>
          <a:p>
            <a:r>
              <a:rPr lang="zh-TW" altLang="en-US" dirty="0"/>
              <a:t>或按 </a:t>
            </a:r>
            <a:r>
              <a:rPr lang="en-US" altLang="zh-TW" dirty="0" err="1"/>
              <a:t>Ctrl+Shift+B</a:t>
            </a:r>
            <a:r>
              <a:rPr lang="zh-TW" altLang="en-US" dirty="0"/>
              <a:t>（直接執行預設建置任務 </a:t>
            </a:r>
            <a:r>
              <a:rPr lang="en-US" altLang="zh-TW" b="1" dirty="0"/>
              <a:t>Build (make)</a:t>
            </a:r>
            <a:r>
              <a:rPr lang="zh-TW" altLang="en-US" dirty="0"/>
              <a:t>）</a:t>
            </a:r>
            <a:endParaRPr lang="en-US" altLang="zh-TW" dirty="0"/>
          </a:p>
          <a:p>
            <a:r>
              <a:rPr lang="zh-TW" altLang="en-US" dirty="0"/>
              <a:t>也可在「專案設定」中設定 </a:t>
            </a:r>
            <a:r>
              <a:rPr lang="en-US" altLang="zh-TW" b="1" dirty="0"/>
              <a:t>Post-Build</a:t>
            </a:r>
            <a:r>
              <a:rPr lang="en-US" altLang="zh-TW" dirty="0"/>
              <a:t> </a:t>
            </a:r>
            <a:r>
              <a:rPr lang="zh-TW" altLang="en-US" dirty="0"/>
              <a:t>命令，</a:t>
            </a:r>
            <a:r>
              <a:rPr lang="en-US" altLang="zh-TW" dirty="0"/>
              <a:t>Build </a:t>
            </a:r>
            <a:r>
              <a:rPr lang="zh-TW" altLang="en-US" dirty="0"/>
              <a:t>成功後自動執行（例如 </a:t>
            </a:r>
            <a:r>
              <a:rPr lang="en-US" altLang="zh-TW" dirty="0"/>
              <a:t>CRC </a:t>
            </a:r>
            <a:r>
              <a:rPr lang="zh-TW" altLang="en-US" dirty="0"/>
              <a:t>計算）</a:t>
            </a:r>
            <a:endParaRPr lang="en-US" altLang="zh-TW" dirty="0"/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/>
              <a:t>HT32 </a:t>
            </a:r>
            <a:r>
              <a:rPr lang="zh-TW" altLang="en-US" dirty="0"/>
              <a:t>工具列點 </a:t>
            </a:r>
            <a:r>
              <a:rPr lang="en-US" altLang="zh-TW" b="1" dirty="0"/>
              <a:t>Clean,</a:t>
            </a:r>
            <a:r>
              <a:rPr lang="zh-TW" altLang="en-US" b="1" dirty="0"/>
              <a:t> </a:t>
            </a:r>
            <a:r>
              <a:rPr lang="zh-TW" altLang="en-US" dirty="0"/>
              <a:t>刪除 </a:t>
            </a:r>
            <a:r>
              <a:rPr lang="en-US" altLang="zh-TW" dirty="0"/>
              <a:t>.</a:t>
            </a:r>
            <a:r>
              <a:rPr lang="en-US" altLang="zh-TW" dirty="0" err="1"/>
              <a:t>vscode</a:t>
            </a:r>
            <a:r>
              <a:rPr lang="en-US" altLang="zh-TW" dirty="0"/>
              <a:t>/build-gen/build/ </a:t>
            </a:r>
            <a:r>
              <a:rPr lang="zh-TW" altLang="en-US" dirty="0"/>
              <a:t>目錄下所有編譯輸出</a:t>
            </a:r>
          </a:p>
          <a:p>
            <a:br>
              <a:rPr lang="zh-TW" altLang="en-US" dirty="0"/>
            </a:b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1" indent="0"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6B5E8863-0898-4527-A9B1-9719E49C49D1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pic>
        <p:nvPicPr>
          <p:cNvPr id="8" name="圖片 7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3A18D070-7AD5-CDCC-4994-2E8F43183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74" y="1950775"/>
            <a:ext cx="4032483" cy="1970142"/>
          </a:xfrm>
          <a:prstGeom prst="rect">
            <a:avLst/>
          </a:prstGeom>
        </p:spPr>
      </p:pic>
      <p:pic>
        <p:nvPicPr>
          <p:cNvPr id="13" name="圖片 1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D4AEBA5F-B016-210A-01A6-2DCB1A192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939" y="2991221"/>
            <a:ext cx="3681588" cy="92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702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0A5D0-40B7-9519-1F3E-C2FB0CCDD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C8AA867-4FB2-0153-E8B1-EDA257C0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13F5EDD-FA95-F2D4-1953-163DE296D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燒錄韌體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F4465F-3C70-12C6-6856-B382D8A544D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95454" y="1137424"/>
            <a:ext cx="7384198" cy="367312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TW" altLang="en-US" sz="1400" dirty="0"/>
              <a:t>需要連接 </a:t>
            </a:r>
            <a:r>
              <a:rPr lang="en-US" altLang="zh-TW" sz="1400" dirty="0" err="1"/>
              <a:t>Holtek</a:t>
            </a:r>
            <a:r>
              <a:rPr lang="en-US" altLang="zh-TW" sz="1400" dirty="0"/>
              <a:t> e-Link32 Pro </a:t>
            </a:r>
            <a:r>
              <a:rPr lang="zh-TW" altLang="en-US" sz="1400" dirty="0"/>
              <a:t>或 </a:t>
            </a:r>
            <a:r>
              <a:rPr lang="en-US" altLang="zh-TW" sz="1400" dirty="0"/>
              <a:t>e-Link32 Lite </a:t>
            </a:r>
          </a:p>
          <a:p>
            <a:pPr marL="685800" lvl="1" indent="-342900">
              <a:buAutoNum type="arabicPeriod"/>
            </a:pPr>
            <a:r>
              <a:rPr lang="zh-TW" altLang="en-US" dirty="0"/>
              <a:t>確認 </a:t>
            </a:r>
            <a:r>
              <a:rPr lang="en-US" altLang="zh-TW" dirty="0"/>
              <a:t>e-Link32 </a:t>
            </a:r>
            <a:r>
              <a:rPr lang="zh-TW" altLang="en-US" dirty="0"/>
              <a:t>已連接並驅動正常</a:t>
            </a:r>
          </a:p>
          <a:p>
            <a:pPr marL="685800" lvl="1" indent="-342900">
              <a:buAutoNum type="arabicPeriod"/>
            </a:pPr>
            <a:r>
              <a:rPr lang="en-US" altLang="zh-TW" dirty="0"/>
              <a:t>HT32 </a:t>
            </a:r>
            <a:r>
              <a:rPr lang="zh-TW" altLang="en-US" dirty="0"/>
              <a:t>工具列點 </a:t>
            </a:r>
            <a:r>
              <a:rPr lang="en-US" altLang="zh-TW" b="1" dirty="0"/>
              <a:t>Download</a:t>
            </a:r>
            <a:endParaRPr lang="zh-TW" altLang="en-US" dirty="0"/>
          </a:p>
          <a:p>
            <a:pPr marL="685800" lvl="1" indent="-342900">
              <a:buAutoNum type="arabicPeriod"/>
            </a:pPr>
            <a:r>
              <a:rPr lang="zh-TW" altLang="en-US" dirty="0"/>
              <a:t>韌體自動燒錄，</a:t>
            </a:r>
            <a:r>
              <a:rPr lang="en-US" altLang="zh-TW" dirty="0"/>
              <a:t>Terminal</a:t>
            </a:r>
            <a:r>
              <a:rPr lang="zh-TW" altLang="en-US" dirty="0"/>
              <a:t> 顯示進度</a:t>
            </a:r>
            <a:endParaRPr lang="en-US" altLang="zh-TW" sz="11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685800" lvl="1" indent="-342900"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/>
              <a:t>燒錄設定（在專案設定中調整）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EFF6925C-FBD6-D7E1-CB65-0D7B1FC2383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6868040"/>
              </p:ext>
            </p:extLst>
          </p:nvPr>
        </p:nvGraphicFramePr>
        <p:xfrm>
          <a:off x="1048215" y="3631537"/>
          <a:ext cx="4148253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6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設定</a:t>
                      </a:r>
                      <a:endParaRPr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選項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/>
                        <a:t>Debug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CMSIS-DAP（e-Link32）/ J-Link / ST-Link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Erase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/>
                        <a:t>Erase </a:t>
                      </a:r>
                      <a:r>
                        <a:rPr sz="1100" dirty="0" err="1"/>
                        <a:t>Sector（預設</a:t>
                      </a:r>
                      <a:r>
                        <a:rPr sz="1100" dirty="0"/>
                        <a:t>）/ Erase Chip / 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圖片 7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B2824160-573B-3CC5-0D69-AB0FA9EFD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236" y="1460810"/>
            <a:ext cx="3242310" cy="176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24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8A849-7DE1-6426-6140-540A9A51E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B376632-FE11-41D3-A51B-7D78951E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B4741C8-133A-DDBF-2EE8-D4BD38E2B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除錯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42C94C3-D33B-F769-4CC7-EC92FCC2E47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6300" y="966439"/>
            <a:ext cx="4896285" cy="376976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TW" b="1" dirty="0"/>
              <a:t>Cortex-Debug</a:t>
            </a:r>
            <a:r>
              <a:rPr lang="en-US" altLang="zh-TW" dirty="0"/>
              <a:t> </a:t>
            </a:r>
            <a:r>
              <a:rPr lang="zh-TW" altLang="en-US" dirty="0"/>
              <a:t>為相依套件，安裝本 </a:t>
            </a:r>
            <a:r>
              <a:rPr lang="en-US" altLang="zh-TW" dirty="0"/>
              <a:t>Extension </a:t>
            </a:r>
            <a:r>
              <a:rPr lang="zh-TW" altLang="en-US" dirty="0"/>
              <a:t>時會自動一併安裝。</a:t>
            </a:r>
            <a:r>
              <a:rPr lang="en-US" altLang="zh-TW" dirty="0"/>
              <a:t>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 b="1" dirty="0"/>
              <a:t>模式選擇（</a:t>
            </a:r>
            <a:r>
              <a:rPr lang="en-US" altLang="zh-TW" b="1" dirty="0" err="1"/>
              <a:t>QuickPick</a:t>
            </a:r>
            <a:r>
              <a:rPr lang="zh-TW" altLang="en-US" b="1" dirty="0"/>
              <a:t>）</a:t>
            </a:r>
            <a:endParaRPr lang="en-US" altLang="zh-TW" b="1" dirty="0"/>
          </a:p>
          <a:p>
            <a:pPr>
              <a:buFont typeface="Wingdings" panose="05000000000000000000" pitchFamily="2" charset="2"/>
              <a:buChar char="l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TW" dirty="0"/>
              <a:t>HT32 </a:t>
            </a:r>
            <a:r>
              <a:rPr lang="zh-TW" altLang="en-US" dirty="0"/>
              <a:t>工具列點 </a:t>
            </a:r>
            <a:r>
              <a:rPr lang="en-US" altLang="zh-TW" b="1" dirty="0" err="1"/>
              <a:t>Debug</a:t>
            </a:r>
            <a:r>
              <a:rPr lang="en-US" altLang="zh-TW" b="1" dirty="0" err="1">
                <a:sym typeface="Wingdings" panose="05000000000000000000" pitchFamily="2" charset="2"/>
              </a:rPr>
              <a:t></a:t>
            </a:r>
            <a:r>
              <a:rPr lang="en-US" altLang="zh-TW" b="1" dirty="0" err="1"/>
              <a:t>Debug</a:t>
            </a:r>
            <a:endParaRPr lang="zh-TW" altLang="en-US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TW" altLang="en-US" dirty="0"/>
              <a:t>自動編譯、燒錄，並啟動 </a:t>
            </a:r>
            <a:r>
              <a:rPr lang="en-US" altLang="zh-TW" dirty="0" err="1"/>
              <a:t>OpenOCD</a:t>
            </a:r>
            <a:r>
              <a:rPr lang="en-US" altLang="zh-TW" dirty="0"/>
              <a:t> + GDB </a:t>
            </a:r>
            <a:r>
              <a:rPr lang="zh-TW" altLang="en-US" dirty="0"/>
              <a:t>除錯工作階段</a:t>
            </a:r>
            <a:endParaRPr lang="en-US" altLang="zh-TW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TW" dirty="0"/>
              <a:t>HT32 </a:t>
            </a:r>
            <a:r>
              <a:rPr lang="zh-TW" altLang="en-US" dirty="0"/>
              <a:t>工具列點 </a:t>
            </a:r>
            <a:r>
              <a:rPr lang="en-US" altLang="zh-TW" dirty="0" err="1"/>
              <a:t>Debug</a:t>
            </a:r>
            <a:r>
              <a:rPr lang="en-US" altLang="zh-TW" dirty="0" err="1">
                <a:sym typeface="Wingdings" panose="05000000000000000000" pitchFamily="2" charset="2"/>
              </a:rPr>
              <a:t></a:t>
            </a:r>
            <a:r>
              <a:rPr lang="en-US" altLang="zh-TW" dirty="0" err="1"/>
              <a:t>Attach</a:t>
            </a:r>
            <a:r>
              <a:rPr lang="en-US" altLang="zh-TW" dirty="0"/>
              <a:t>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TW" altLang="en-US" dirty="0"/>
              <a:t>不會編譯也不會燒錄，直接透過 </a:t>
            </a:r>
            <a:r>
              <a:rPr lang="en-US" altLang="zh-TW" dirty="0" err="1"/>
              <a:t>OpenOCD</a:t>
            </a:r>
            <a:r>
              <a:rPr lang="en-US" altLang="zh-TW" dirty="0"/>
              <a:t> </a:t>
            </a:r>
            <a:r>
              <a:rPr lang="zh-TW" altLang="en-US" dirty="0"/>
              <a:t>連線並暫停 </a:t>
            </a:r>
            <a:r>
              <a:rPr lang="en-US" altLang="zh-TW" dirty="0"/>
              <a:t>CPU</a:t>
            </a:r>
            <a:r>
              <a:rPr lang="zh-TW" altLang="en-US" dirty="0"/>
              <a:t>。</a:t>
            </a:r>
          </a:p>
          <a:p>
            <a:pPr marL="685800" lvl="1" indent="-342900">
              <a:lnSpc>
                <a:spcPct val="100000"/>
              </a:lnSpc>
              <a:buAutoNum type="arabicPeriod"/>
            </a:pPr>
            <a:endParaRPr lang="zh-TW" altLang="en-US" sz="1000" dirty="0"/>
          </a:p>
          <a:p>
            <a:pPr>
              <a:buFont typeface="Wingdings" panose="05000000000000000000" pitchFamily="2" charset="2"/>
              <a:buChar char="l"/>
            </a:pPr>
            <a:endParaRPr lang="zh-TW" alt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724875BF-5923-0C27-A8CF-A26CB1211509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8161452"/>
              </p:ext>
            </p:extLst>
          </p:nvPr>
        </p:nvGraphicFramePr>
        <p:xfrm>
          <a:off x="690253" y="1833546"/>
          <a:ext cx="406895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說明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/>
                        <a:t>Debug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燒錄後啟動除錯（完整流程</a:t>
                      </a:r>
                      <a:r>
                        <a:rPr sz="1100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/>
                        <a:t>Attach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不燒錄，直接附接到已執行中的目標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" name="圖片 9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338DFBEA-F480-2C89-F543-6E4C434E6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331" y="1503297"/>
            <a:ext cx="3444390" cy="285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28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39FD0-9583-BF8E-9B61-82709C74B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A33004B-E5C3-3C56-71D0-9DEBBA7B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1053A74-0874-D9F8-AE43-B48045A53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除錯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5059711-315F-7B06-8172-892B73B9706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6300" y="966439"/>
            <a:ext cx="4896285" cy="376976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TW" b="1" dirty="0"/>
              <a:t>Cortex-Debug</a:t>
            </a:r>
            <a:r>
              <a:rPr lang="en-US" altLang="zh-TW" dirty="0"/>
              <a:t> </a:t>
            </a:r>
            <a:r>
              <a:rPr lang="zh-TW" altLang="en-US" dirty="0"/>
              <a:t>為相依套件，安裝本 </a:t>
            </a:r>
            <a:r>
              <a:rPr lang="en-US" altLang="zh-TW" dirty="0"/>
              <a:t>Extension </a:t>
            </a:r>
            <a:r>
              <a:rPr lang="zh-TW" altLang="en-US" dirty="0"/>
              <a:t>時會自動一併安裝。</a:t>
            </a:r>
            <a:r>
              <a:rPr lang="en-US" altLang="zh-TW" dirty="0"/>
              <a:t>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 b="1" dirty="0"/>
              <a:t>模式選擇（</a:t>
            </a:r>
            <a:r>
              <a:rPr lang="en-US" altLang="zh-TW" b="1" dirty="0" err="1"/>
              <a:t>QuickPick</a:t>
            </a:r>
            <a:r>
              <a:rPr lang="zh-TW" altLang="en-US" b="1" dirty="0"/>
              <a:t>）</a:t>
            </a:r>
            <a:endParaRPr lang="en-US" altLang="zh-TW" b="1" dirty="0"/>
          </a:p>
          <a:p>
            <a:pPr>
              <a:buFont typeface="Wingdings" panose="05000000000000000000" pitchFamily="2" charset="2"/>
              <a:buChar char="l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TW" dirty="0"/>
              <a:t>HT32 </a:t>
            </a:r>
            <a:r>
              <a:rPr lang="zh-TW" altLang="en-US" dirty="0"/>
              <a:t>工具列點 </a:t>
            </a:r>
            <a:r>
              <a:rPr lang="en-US" altLang="zh-TW" b="1" dirty="0" err="1"/>
              <a:t>Debug</a:t>
            </a:r>
            <a:r>
              <a:rPr lang="en-US" altLang="zh-TW" b="1" dirty="0" err="1">
                <a:sym typeface="Wingdings" panose="05000000000000000000" pitchFamily="2" charset="2"/>
              </a:rPr>
              <a:t></a:t>
            </a:r>
            <a:r>
              <a:rPr lang="en-US" altLang="zh-TW" b="1" dirty="0" err="1"/>
              <a:t>Debug</a:t>
            </a:r>
            <a:endParaRPr lang="zh-TW" altLang="en-US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TW" altLang="en-US" dirty="0"/>
              <a:t>自動編譯、燒錄，並啟動 </a:t>
            </a:r>
            <a:r>
              <a:rPr lang="en-US" altLang="zh-TW" dirty="0" err="1"/>
              <a:t>OpenOCD</a:t>
            </a:r>
            <a:r>
              <a:rPr lang="en-US" altLang="zh-TW" dirty="0"/>
              <a:t> + GDB </a:t>
            </a:r>
            <a:r>
              <a:rPr lang="zh-TW" altLang="en-US" dirty="0"/>
              <a:t>除錯工作階段</a:t>
            </a:r>
            <a:endParaRPr lang="en-US" altLang="zh-TW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TW" dirty="0"/>
              <a:t>HT32 </a:t>
            </a:r>
            <a:r>
              <a:rPr lang="zh-TW" altLang="en-US" dirty="0"/>
              <a:t>工具列點 </a:t>
            </a:r>
            <a:r>
              <a:rPr lang="en-US" altLang="zh-TW" dirty="0" err="1"/>
              <a:t>Debug</a:t>
            </a:r>
            <a:r>
              <a:rPr lang="en-US" altLang="zh-TW" dirty="0" err="1">
                <a:sym typeface="Wingdings" panose="05000000000000000000" pitchFamily="2" charset="2"/>
              </a:rPr>
              <a:t></a:t>
            </a:r>
            <a:r>
              <a:rPr lang="en-US" altLang="zh-TW" dirty="0" err="1"/>
              <a:t>Attach</a:t>
            </a:r>
            <a:r>
              <a:rPr lang="en-US" altLang="zh-TW" dirty="0"/>
              <a:t>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TW" altLang="en-US" dirty="0"/>
              <a:t>不會編譯也不會燒錄，直接透過 </a:t>
            </a:r>
            <a:r>
              <a:rPr lang="en-US" altLang="zh-TW" dirty="0" err="1"/>
              <a:t>OpenOCD</a:t>
            </a:r>
            <a:r>
              <a:rPr lang="en-US" altLang="zh-TW" dirty="0"/>
              <a:t> </a:t>
            </a:r>
            <a:r>
              <a:rPr lang="zh-TW" altLang="en-US" dirty="0"/>
              <a:t>連線並暫停 </a:t>
            </a:r>
            <a:r>
              <a:rPr lang="en-US" altLang="zh-TW" dirty="0"/>
              <a:t>CPU</a:t>
            </a:r>
            <a:r>
              <a:rPr lang="zh-TW" altLang="en-US" dirty="0"/>
              <a:t>。</a:t>
            </a:r>
          </a:p>
          <a:p>
            <a:pPr marL="685800" lvl="1" indent="-342900">
              <a:lnSpc>
                <a:spcPct val="100000"/>
              </a:lnSpc>
              <a:buAutoNum type="arabicPeriod"/>
            </a:pPr>
            <a:endParaRPr lang="zh-TW" altLang="en-US" sz="1000" dirty="0"/>
          </a:p>
          <a:p>
            <a:pPr>
              <a:buFont typeface="Wingdings" panose="05000000000000000000" pitchFamily="2" charset="2"/>
              <a:buChar char="l"/>
            </a:pPr>
            <a:endParaRPr lang="zh-TW" alt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0416BAF3-4A83-490C-2CF0-DA8D87A105A0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6A9EF2CA-5DCB-C874-AD87-6EA1499500E3}"/>
              </a:ext>
            </a:extLst>
          </p:cNvPr>
          <p:cNvGraphicFramePr>
            <a:graphicFrameLocks/>
          </p:cNvGraphicFramePr>
          <p:nvPr/>
        </p:nvGraphicFramePr>
        <p:xfrm>
          <a:off x="690253" y="1833546"/>
          <a:ext cx="406895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說明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/>
                        <a:t>Debug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燒錄後啟動除錯（完整流程</a:t>
                      </a:r>
                      <a:r>
                        <a:rPr sz="1100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/>
                        <a:t>Attach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不燒錄，直接附接到已執行中的目標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" name="圖片 9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C1EB06E8-9EA8-D36A-04D0-59B981481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331" y="1503297"/>
            <a:ext cx="3444390" cy="285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470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A7FF8-30EC-DD86-33A3-10FF43AE2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26A0843-E4BD-685A-3C8C-3BEAE3EBD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CA9B7C3-5362-8E17-C5D9-86AA75E01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專案設定 </a:t>
            </a:r>
            <a:r>
              <a:rPr lang="en-US" altLang="zh-TW" dirty="0"/>
              <a:t>— </a:t>
            </a:r>
            <a:r>
              <a:rPr lang="zh-TW" altLang="en-US" dirty="0"/>
              <a:t>編譯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76E001-BDF7-0232-D64E-ED0FD192DD1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9944" y="1228768"/>
            <a:ext cx="4896285" cy="30096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TW" dirty="0"/>
              <a:t>HT32 </a:t>
            </a:r>
            <a:r>
              <a:rPr lang="zh-TW" altLang="en-US" dirty="0"/>
              <a:t>工具列點 </a:t>
            </a:r>
            <a:r>
              <a:rPr lang="en-US" altLang="zh-TW" b="1" dirty="0"/>
              <a:t>Settings</a:t>
            </a:r>
            <a:r>
              <a:rPr lang="zh-TW" altLang="en-US" dirty="0"/>
              <a:t>（⚙️）開啟設定面板。</a:t>
            </a:r>
            <a:r>
              <a:rPr lang="en-US" altLang="zh-TW" dirty="0"/>
              <a:t>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984BA7C1-E0D0-92ED-E685-E4CEC81E2C62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6567967-2F6F-06F3-E678-2D22E72E13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2865499"/>
              </p:ext>
            </p:extLst>
          </p:nvPr>
        </p:nvGraphicFramePr>
        <p:xfrm>
          <a:off x="636078" y="1611848"/>
          <a:ext cx="5754031" cy="284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100" dirty="0">
                          <a:effectLst/>
                        </a:rPr>
                        <a:t>設定項目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100">
                          <a:effectLst/>
                        </a:rPr>
                        <a:t>說明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Optimization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-O0</a:t>
                      </a:r>
                      <a:r>
                        <a:rPr lang="en-US" sz="1100">
                          <a:effectLst/>
                        </a:rPr>
                        <a:t> / </a:t>
                      </a:r>
                      <a:r>
                        <a:rPr lang="en-US" sz="11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-O1</a:t>
                      </a:r>
                      <a:r>
                        <a:rPr lang="en-US" sz="1100">
                          <a:effectLst/>
                        </a:rPr>
                        <a:t> / </a:t>
                      </a:r>
                      <a:r>
                        <a:rPr lang="en-US" sz="11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-O2</a:t>
                      </a:r>
                      <a:r>
                        <a:rPr lang="en-US" sz="1100">
                          <a:effectLst/>
                        </a:rPr>
                        <a:t> / </a:t>
                      </a:r>
                      <a:r>
                        <a:rPr lang="en-US" sz="11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-O3</a:t>
                      </a:r>
                      <a:r>
                        <a:rPr lang="en-US" sz="1100">
                          <a:effectLst/>
                        </a:rPr>
                        <a:t> / </a:t>
                      </a:r>
                      <a:r>
                        <a:rPr lang="en-US" sz="11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-Os</a:t>
                      </a:r>
                      <a:r>
                        <a:rPr lang="en-US" sz="1100">
                          <a:effectLst/>
                        </a:rPr>
                        <a:t>（</a:t>
                      </a:r>
                      <a:r>
                        <a:rPr lang="zh-TW" altLang="en-US" sz="1100">
                          <a:effectLst/>
                        </a:rPr>
                        <a:t>預設）</a:t>
                      </a:r>
                      <a:r>
                        <a:rPr lang="en-US" altLang="zh-TW" sz="1100">
                          <a:effectLst/>
                        </a:rPr>
                        <a:t>/ </a:t>
                      </a:r>
                      <a:r>
                        <a:rPr lang="en-US" altLang="zh-TW" sz="11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en-US" sz="11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Og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Debug Info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100" dirty="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-g3</a:t>
                      </a:r>
                      <a:r>
                        <a:rPr lang="zh-TW" altLang="en-US" sz="1100" dirty="0">
                          <a:effectLst/>
                        </a:rPr>
                        <a:t>（預設，完整 </a:t>
                      </a:r>
                      <a:r>
                        <a:rPr lang="en-US" altLang="zh-TW" sz="1100" dirty="0">
                          <a:effectLst/>
                        </a:rPr>
                        <a:t>debug</a:t>
                      </a:r>
                      <a:r>
                        <a:rPr lang="zh-TW" altLang="en-US" sz="1100" dirty="0">
                          <a:effectLst/>
                        </a:rPr>
                        <a:t>）</a:t>
                      </a:r>
                      <a:r>
                        <a:rPr lang="en-US" altLang="zh-TW" sz="1100" dirty="0">
                          <a:effectLst/>
                        </a:rPr>
                        <a:t>/ </a:t>
                      </a:r>
                      <a:r>
                        <a:rPr lang="en-US" altLang="zh-TW" sz="1100" dirty="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-g</a:t>
                      </a:r>
                      <a:r>
                        <a:rPr lang="zh-TW" altLang="en-US" sz="1100" dirty="0">
                          <a:effectLst/>
                        </a:rPr>
                        <a:t>（標準）</a:t>
                      </a:r>
                      <a:r>
                        <a:rPr lang="en-US" altLang="zh-TW" sz="1100" dirty="0">
                          <a:effectLst/>
                        </a:rPr>
                        <a:t>/ </a:t>
                      </a:r>
                      <a:r>
                        <a:rPr lang="en-US" altLang="zh-TW" sz="1100" dirty="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-g1</a:t>
                      </a:r>
                      <a:r>
                        <a:rPr lang="zh-TW" altLang="en-US" sz="1100" dirty="0">
                          <a:effectLst/>
                        </a:rPr>
                        <a:t>（僅行號）</a:t>
                      </a:r>
                      <a:r>
                        <a:rPr lang="en-US" altLang="zh-TW" sz="1100" dirty="0">
                          <a:effectLst/>
                        </a:rPr>
                        <a:t>/ </a:t>
                      </a:r>
                      <a:r>
                        <a:rPr lang="en-US" altLang="zh-TW" sz="1100" dirty="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-g0</a:t>
                      </a:r>
                      <a:r>
                        <a:rPr lang="zh-TW" altLang="en-US" sz="1100" dirty="0">
                          <a:effectLst/>
                        </a:rPr>
                        <a:t>（無，</a:t>
                      </a:r>
                      <a:r>
                        <a:rPr lang="en-US" altLang="zh-TW" sz="1100" dirty="0">
                          <a:effectLst/>
                        </a:rPr>
                        <a:t>release </a:t>
                      </a:r>
                      <a:r>
                        <a:rPr lang="zh-TW" altLang="en-US" sz="1100" dirty="0">
                          <a:effectLst/>
                        </a:rPr>
                        <a:t>用）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Float ABI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soft</a:t>
                      </a:r>
                      <a:r>
                        <a:rPr lang="en-US" sz="1100" dirty="0">
                          <a:effectLst/>
                        </a:rPr>
                        <a:t>（M0/M3）/ </a:t>
                      </a:r>
                      <a:r>
                        <a:rPr lang="en-US" sz="1100" dirty="0" err="1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softfp</a:t>
                      </a:r>
                      <a:r>
                        <a:rPr lang="en-US" sz="1100" dirty="0">
                          <a:effectLst/>
                        </a:rPr>
                        <a:t> / </a:t>
                      </a:r>
                      <a:r>
                        <a:rPr lang="en-US" sz="1100" dirty="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hard</a:t>
                      </a:r>
                      <a:r>
                        <a:rPr lang="en-US" sz="1100" dirty="0">
                          <a:effectLst/>
                        </a:rPr>
                        <a:t>（M4F）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FPU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none</a:t>
                      </a:r>
                      <a:r>
                        <a:rPr lang="en-US" sz="1100" dirty="0">
                          <a:effectLst/>
                        </a:rPr>
                        <a:t> / </a:t>
                      </a:r>
                      <a:r>
                        <a:rPr lang="en-US" sz="1100" dirty="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fpv4-sp-d16</a:t>
                      </a:r>
                      <a:r>
                        <a:rPr lang="en-US" sz="1100" dirty="0">
                          <a:effectLst/>
                        </a:rPr>
                        <a:t>（M4F）/ </a:t>
                      </a:r>
                      <a:r>
                        <a:rPr lang="en-US" sz="1100" dirty="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fpv5-sp-d16</a:t>
                      </a:r>
                      <a:r>
                        <a:rPr lang="en-US" sz="1100" dirty="0">
                          <a:effectLst/>
                        </a:rPr>
                        <a:t>（M7）/ </a:t>
                      </a:r>
                      <a:r>
                        <a:rPr lang="en-US" sz="1100" dirty="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fpv5-d16</a:t>
                      </a:r>
                      <a:r>
                        <a:rPr lang="en-US" sz="1100" dirty="0">
                          <a:effectLst/>
                        </a:rPr>
                        <a:t>（M7）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Extra CFLAGS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dirty="0">
                          <a:effectLst/>
                        </a:rPr>
                        <a:t>附加編譯旗標，例如 </a:t>
                      </a:r>
                      <a:r>
                        <a:rPr lang="en-US" altLang="zh-TW" sz="1100" dirty="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-DDEBUG</a:t>
                      </a:r>
                      <a:endParaRPr lang="zh-TW" alt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Extra LDFLAGS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dirty="0">
                          <a:effectLst/>
                        </a:rPr>
                        <a:t>附加連結旗標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C Runtime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nano</a:t>
                      </a:r>
                      <a:r>
                        <a:rPr lang="en-US" sz="1100" dirty="0" err="1">
                          <a:effectLst/>
                        </a:rPr>
                        <a:t>（newlib-nano</a:t>
                      </a:r>
                      <a:r>
                        <a:rPr lang="en-US" sz="1100" dirty="0">
                          <a:effectLst/>
                        </a:rPr>
                        <a:t>）/ </a:t>
                      </a:r>
                      <a:r>
                        <a:rPr lang="en-US" sz="1100" dirty="0" err="1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nosys</a:t>
                      </a:r>
                      <a:r>
                        <a:rPr lang="en-US" sz="1100" dirty="0">
                          <a:effectLst/>
                        </a:rPr>
                        <a:t>（</a:t>
                      </a:r>
                      <a:r>
                        <a:rPr lang="zh-TW" altLang="en-US" sz="1100" dirty="0">
                          <a:effectLst/>
                        </a:rPr>
                        <a:t>不使用 </a:t>
                      </a:r>
                      <a:r>
                        <a:rPr lang="en-US" sz="1100" dirty="0" err="1">
                          <a:effectLst/>
                        </a:rPr>
                        <a:t>syscalls</a:t>
                      </a:r>
                      <a:r>
                        <a:rPr lang="en-US" sz="1100" dirty="0">
                          <a:effectLst/>
                        </a:rPr>
                        <a:t>）— </a:t>
                      </a:r>
                      <a:r>
                        <a:rPr lang="zh-TW" altLang="en-US" sz="1100" dirty="0">
                          <a:effectLst/>
                        </a:rPr>
                        <a:t>可同時勾選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LTO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dirty="0">
                          <a:effectLst/>
                        </a:rPr>
                        <a:t>啟用 </a:t>
                      </a:r>
                      <a:r>
                        <a:rPr lang="en-US" altLang="zh-TW" sz="1100" dirty="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en-US" sz="1100" dirty="0" err="1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flto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4861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>
                          <a:effectLst/>
                        </a:rPr>
                        <a:t>printf</a:t>
                      </a:r>
                      <a:r>
                        <a:rPr lang="en-US" sz="1100" dirty="0">
                          <a:effectLst/>
                        </a:rPr>
                        <a:t> float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dirty="0">
                          <a:effectLst/>
                        </a:rPr>
                        <a:t>啟用浮點 </a:t>
                      </a:r>
                      <a:r>
                        <a:rPr lang="en-US" sz="1100" dirty="0" err="1">
                          <a:effectLst/>
                        </a:rPr>
                        <a:t>printf</a:t>
                      </a:r>
                      <a:r>
                        <a:rPr lang="en-US" sz="1100" dirty="0">
                          <a:effectLst/>
                        </a:rPr>
                        <a:t>（</a:t>
                      </a:r>
                      <a:r>
                        <a:rPr lang="en-US" sz="1100" dirty="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-u _</a:t>
                      </a:r>
                      <a:r>
                        <a:rPr lang="en-US" sz="1100" dirty="0" err="1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printf_float</a:t>
                      </a:r>
                      <a:r>
                        <a:rPr lang="en-US" sz="1100" dirty="0">
                          <a:effectLst/>
                        </a:rPr>
                        <a:t>）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6045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>
                          <a:effectLst/>
                        </a:rPr>
                        <a:t>scanf</a:t>
                      </a:r>
                      <a:r>
                        <a:rPr lang="en-US" sz="1100" dirty="0">
                          <a:effectLst/>
                        </a:rPr>
                        <a:t> float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dirty="0">
                          <a:effectLst/>
                        </a:rPr>
                        <a:t>啟用浮點 </a:t>
                      </a:r>
                      <a:r>
                        <a:rPr lang="en-US" sz="1100" dirty="0" err="1">
                          <a:effectLst/>
                        </a:rPr>
                        <a:t>scanf</a:t>
                      </a:r>
                      <a:r>
                        <a:rPr lang="en-US" sz="1100" dirty="0">
                          <a:effectLst/>
                        </a:rPr>
                        <a:t>（</a:t>
                      </a:r>
                      <a:r>
                        <a:rPr lang="en-US" sz="1100" dirty="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-u _</a:t>
                      </a:r>
                      <a:r>
                        <a:rPr lang="en-US" sz="1100" dirty="0" err="1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scanf_float</a:t>
                      </a:r>
                      <a:r>
                        <a:rPr lang="en-US" sz="1100" dirty="0">
                          <a:effectLst/>
                        </a:rPr>
                        <a:t>）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4229111"/>
                  </a:ext>
                </a:extLst>
              </a:tr>
            </a:tbl>
          </a:graphicData>
        </a:graphic>
      </p:graphicFrame>
      <p:pic>
        <p:nvPicPr>
          <p:cNvPr id="13" name="圖片 12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581ED1E3-17E2-9502-590B-1C4EBCBDD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887" y="1044876"/>
            <a:ext cx="2293091" cy="2194560"/>
          </a:xfrm>
          <a:prstGeom prst="rect">
            <a:avLst/>
          </a:prstGeom>
        </p:spPr>
      </p:pic>
      <p:pic>
        <p:nvPicPr>
          <p:cNvPr id="5" name="圖片 4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D648538E-E34E-751F-E01D-7F549658B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887" y="3271102"/>
            <a:ext cx="2293091" cy="116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8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AFF27-BA40-B857-9993-32873440E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CE6E8EE-4D9B-2784-86DF-123BEA45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AD8155C-6A56-0C97-6662-E297E99A7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專案設定 </a:t>
            </a:r>
            <a:r>
              <a:rPr lang="en-US" altLang="zh-TW" dirty="0"/>
              <a:t>—</a:t>
            </a:r>
            <a:r>
              <a:rPr lang="zh-TW" altLang="en-US" dirty="0"/>
              <a:t>函式庫 </a:t>
            </a:r>
            <a:r>
              <a:rPr lang="en-US" altLang="zh-TW" dirty="0"/>
              <a:t>&amp; </a:t>
            </a:r>
            <a:r>
              <a:rPr lang="zh-TW" altLang="en-US" dirty="0"/>
              <a:t>其他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A29F9B-FF1B-0CC6-7025-AC08776481A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9944" y="1228768"/>
            <a:ext cx="4896285" cy="300961"/>
          </a:xfrm>
          <a:prstGeom prst="rect">
            <a:avLst/>
          </a:prstGeom>
        </p:spPr>
        <p:txBody>
          <a:bodyPr/>
          <a:lstStyle/>
          <a:p>
            <a:r>
              <a:rPr lang="zh-TW" altLang="en-US" b="1" dirty="0"/>
              <a:t>額外函式庫</a:t>
            </a:r>
          </a:p>
          <a:p>
            <a:pPr marL="0" indent="0">
              <a:buNone/>
            </a:pPr>
            <a:br>
              <a:rPr lang="zh-TW" altLang="en-US" dirty="0"/>
            </a:br>
            <a:r>
              <a:rPr lang="en-US" altLang="zh-TW" dirty="0"/>
              <a:t>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B6FFB34F-ACE5-34CC-F63F-7F72812BD6A3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sp>
        <p:nvSpPr>
          <p:cNvPr id="8" name="內容版面配置區 3">
            <a:extLst>
              <a:ext uri="{FF2B5EF4-FFF2-40B4-BE49-F238E27FC236}">
                <a16:creationId xmlns:a16="http://schemas.microsoft.com/office/drawing/2014/main" id="{06BEA961-1660-2FA6-5079-56E3234C2B23}"/>
              </a:ext>
            </a:extLst>
          </p:cNvPr>
          <p:cNvSpPr txBox="1">
            <a:spLocks/>
          </p:cNvSpPr>
          <p:nvPr/>
        </p:nvSpPr>
        <p:spPr>
          <a:xfrm>
            <a:off x="529944" y="2766339"/>
            <a:ext cx="4896285" cy="30096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●"/>
              <a:defRPr sz="13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tabLst>
                <a:tab pos="1207294" algn="l"/>
                <a:tab pos="1207294" algn="l"/>
                <a:tab pos="1207294" algn="l"/>
                <a:tab pos="1207294" algn="l"/>
              </a:tabLst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Wingdings" panose="05000000000000000000" charset="0"/>
              <a:buChar char="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TW" altLang="en-US" b="1" dirty="0"/>
              <a:t>其他</a:t>
            </a:r>
            <a:endParaRPr lang="en-US" altLang="zh-TW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5" name="圖片 14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4152F08D-3AEE-94C3-D422-1D0FF5206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083" y="1547075"/>
            <a:ext cx="2300719" cy="1996679"/>
          </a:xfrm>
          <a:prstGeom prst="rect">
            <a:avLst/>
          </a:prstGeom>
        </p:spPr>
      </p:pic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2161253"/>
              </p:ext>
            </p:extLst>
          </p:nvPr>
        </p:nvGraphicFramePr>
        <p:xfrm>
          <a:off x="803198" y="1557795"/>
          <a:ext cx="51054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6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設定項目</a:t>
                      </a:r>
                      <a:endParaRPr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Extra Libs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直接加入連結的 </a:t>
                      </a:r>
                      <a:r>
                        <a:rPr sz="1100">
                          <a:latin typeface="Courier"/>
                        </a:rPr>
                        <a:t>.a</a:t>
                      </a:r>
                      <a:r>
                        <a:rPr sz="1100"/>
                        <a:t> / </a:t>
                      </a:r>
                      <a:r>
                        <a:rPr sz="1100">
                          <a:latin typeface="Courier"/>
                        </a:rPr>
                        <a:t>.o</a:t>
                      </a:r>
                      <a:r>
                        <a:rPr sz="1100"/>
                        <a:t> 路徑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Extra Lib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函式庫名稱（</a:t>
                      </a:r>
                      <a:r>
                        <a:rPr sz="1100">
                          <a:latin typeface="Courier"/>
                        </a:rPr>
                        <a:t>-lName</a:t>
                      </a:r>
                      <a:r>
                        <a:rPr sz="110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Extra Lib Paths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函式庫搜尋路徑</a:t>
                      </a:r>
                      <a:r>
                        <a:rPr sz="1100" dirty="0"/>
                        <a:t>（</a:t>
                      </a:r>
                      <a:r>
                        <a:rPr sz="1100" dirty="0">
                          <a:latin typeface="Courier"/>
                        </a:rPr>
                        <a:t>-</a:t>
                      </a:r>
                      <a:r>
                        <a:rPr sz="1100" dirty="0" err="1">
                          <a:latin typeface="Courier"/>
                        </a:rPr>
                        <a:t>L"dir</a:t>
                      </a:r>
                      <a:r>
                        <a:rPr sz="1100" dirty="0">
                          <a:latin typeface="Courier"/>
                        </a:rPr>
                        <a:t>"</a:t>
                      </a:r>
                      <a:r>
                        <a:rPr sz="1100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>
            <a:extLst>
              <a:ext uri="{FF2B5EF4-FFF2-40B4-BE49-F238E27FC236}">
                <a16:creationId xmlns:a16="http://schemas.microsoft.com/office/drawing/2014/main" id="{C4BA2FFC-F6EE-8F90-DC1E-A4EE6989A9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7257214"/>
              </p:ext>
            </p:extLst>
          </p:nvPr>
        </p:nvGraphicFramePr>
        <p:xfrm>
          <a:off x="803198" y="3053514"/>
          <a:ext cx="510540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3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設定項目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Output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覆蓋輸出檔案名稱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SVD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周邊暫存器 SVD 檔案（空白 = 自動偵測）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DFP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自訂 DFP 路徑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Post-Build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/>
                        <a:t>Build </a:t>
                      </a:r>
                      <a:r>
                        <a:rPr sz="1100" dirty="0" err="1"/>
                        <a:t>後執行的命令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115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D0AA6-E129-8D43-9E69-1491D274D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E79253B-33A8-F003-21BD-911D6FA04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3B978EC-83C5-AF99-DE90-1562739D3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專案設定 </a:t>
            </a:r>
            <a:r>
              <a:rPr lang="en-US" altLang="zh-TW" dirty="0"/>
              <a:t>— </a:t>
            </a:r>
            <a:r>
              <a:rPr lang="zh-TW" altLang="en-US" dirty="0"/>
              <a:t>除錯 </a:t>
            </a:r>
            <a:r>
              <a:rPr lang="en-US" altLang="zh-TW" dirty="0"/>
              <a:t>/ </a:t>
            </a:r>
            <a:r>
              <a:rPr lang="zh-TW" altLang="en-US" dirty="0"/>
              <a:t>燒錄</a:t>
            </a:r>
            <a:endParaRPr kumimoji="1"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512E7347-81C2-81EA-F689-519D2849B0C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6062677"/>
              </p:ext>
            </p:extLst>
          </p:nvPr>
        </p:nvGraphicFramePr>
        <p:xfrm>
          <a:off x="661948" y="937175"/>
          <a:ext cx="5292802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5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668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設定項目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Debug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>
                          <a:latin typeface="Courier"/>
                        </a:rPr>
                        <a:t>CMSIS-DAP</a:t>
                      </a:r>
                      <a:r>
                        <a:rPr sz="1100"/>
                        <a:t>（e-Link32）/ </a:t>
                      </a:r>
                      <a:r>
                        <a:rPr sz="1100">
                          <a:latin typeface="Courier"/>
                        </a:rPr>
                        <a:t>J-Link</a:t>
                      </a:r>
                      <a:r>
                        <a:rPr sz="1100"/>
                        <a:t> / </a:t>
                      </a:r>
                      <a:r>
                        <a:rPr sz="1100">
                          <a:latin typeface="Courier"/>
                        </a:rPr>
                        <a:t>ST-Link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Adapter Serial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指定除錯器序號（空白 = 自動）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Adapter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傳輸速率 kHz（空白 = 介面預設）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Erase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>
                          <a:latin typeface="Courier"/>
                        </a:rPr>
                        <a:t>erase_sector</a:t>
                      </a:r>
                      <a:r>
                        <a:rPr sz="1100"/>
                        <a:t>（預設）/ </a:t>
                      </a:r>
                      <a:r>
                        <a:rPr sz="1100">
                          <a:latin typeface="Courier"/>
                        </a:rPr>
                        <a:t>erase_chip</a:t>
                      </a:r>
                      <a:r>
                        <a:rPr sz="1100"/>
                        <a:t> / </a:t>
                      </a:r>
                      <a:r>
                        <a:rPr sz="1100">
                          <a:latin typeface="Courier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Flash Loaders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附加外部</a:t>
                      </a:r>
                      <a:r>
                        <a:rPr sz="1100" dirty="0"/>
                        <a:t> Flash </a:t>
                      </a:r>
                      <a:r>
                        <a:rPr sz="1100" dirty="0" err="1"/>
                        <a:t>Loader（例如</a:t>
                      </a:r>
                      <a:r>
                        <a:rPr sz="1100" dirty="0"/>
                        <a:t> SPI Flash）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OpenOCD Debug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/>
                        <a:t>0=</a:t>
                      </a:r>
                      <a:r>
                        <a:rPr sz="1100" dirty="0" err="1"/>
                        <a:t>關閉</a:t>
                      </a:r>
                      <a:r>
                        <a:rPr sz="1100" dirty="0"/>
                        <a:t> / 1~3 </a:t>
                      </a:r>
                      <a:r>
                        <a:rPr sz="1100" dirty="0" err="1"/>
                        <a:t>逐漸詳細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" name="圖片 8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7CBBBD94-7679-4742-6F67-7A753E22B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926" y="2571750"/>
            <a:ext cx="2321474" cy="2139754"/>
          </a:xfrm>
          <a:prstGeom prst="rect">
            <a:avLst/>
          </a:prstGeom>
        </p:spPr>
      </p:pic>
      <p:pic>
        <p:nvPicPr>
          <p:cNvPr id="13" name="圖片 12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6A5FDF71-8465-CD11-E371-343AFB04B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6896" y="2677574"/>
            <a:ext cx="2576649" cy="203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62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D345C-E911-79F2-C33C-75247E34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A224804-693E-24A0-131B-0AEB13A4E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F65231B-8EC6-36B8-3AAC-FFEF71A5A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專案設定 </a:t>
            </a:r>
            <a:r>
              <a:rPr lang="en-US" altLang="zh-TW" dirty="0"/>
              <a:t>—</a:t>
            </a:r>
            <a:r>
              <a:rPr lang="zh-TW" altLang="en-US" dirty="0"/>
              <a:t>工具鏈路徑（全域）</a:t>
            </a:r>
            <a:endParaRPr kumimoji="1"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A7C6B05F-0BA9-13A3-B9B0-B517287B38D9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78EB8A12-A0BC-BB98-1438-AB1D7E3704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5702564"/>
              </p:ext>
            </p:extLst>
          </p:nvPr>
        </p:nvGraphicFramePr>
        <p:xfrm>
          <a:off x="951571" y="1556217"/>
          <a:ext cx="7121912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5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設定項目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GCC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>
                          <a:latin typeface="Courier"/>
                        </a:rPr>
                        <a:t>arm-none-eabi-gcc</a:t>
                      </a:r>
                      <a:r>
                        <a:rPr sz="1100"/>
                        <a:t> 路徑（空白 = 自動偵測或 winget 安裝）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/>
                        <a:t>Make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>
                          <a:latin typeface="Courier"/>
                        </a:rPr>
                        <a:t>make</a:t>
                      </a:r>
                      <a:r>
                        <a:rPr sz="1100"/>
                        <a:t> 路徑（空白 = 使用 bundled Make）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OpenOCD</a:t>
                      </a:r>
                      <a:r>
                        <a:rPr sz="1100" dirty="0"/>
                        <a:t>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100" dirty="0" err="1"/>
                        <a:t>OpenOCD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路徑（空白</a:t>
                      </a:r>
                      <a:r>
                        <a:rPr sz="1100" dirty="0"/>
                        <a:t> = </a:t>
                      </a:r>
                      <a:r>
                        <a:rPr sz="1100" dirty="0" err="1"/>
                        <a:t>使用</a:t>
                      </a:r>
                      <a:r>
                        <a:rPr sz="1100" dirty="0"/>
                        <a:t> bundled </a:t>
                      </a:r>
                      <a:r>
                        <a:rPr sz="1100" dirty="0" err="1"/>
                        <a:t>OpenOCD</a:t>
                      </a:r>
                      <a:r>
                        <a:rPr sz="1100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933B25B9-051A-0C81-67EA-8E6A504007AD}"/>
              </a:ext>
            </a:extLst>
          </p:cNvPr>
          <p:cNvSpPr txBox="1"/>
          <p:nvPr/>
        </p:nvSpPr>
        <p:spPr>
          <a:xfrm>
            <a:off x="951571" y="2644055"/>
            <a:ext cx="7121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0" i="0" dirty="0">
                <a:effectLst/>
                <a:latin typeface="-apple-system"/>
              </a:rPr>
              <a:t>專案設定儲存於 </a:t>
            </a:r>
            <a:r>
              <a:rPr lang="en-US" altLang="zh-TW" sz="1400" b="0" i="0" dirty="0"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i="0" dirty="0" err="1">
                <a:effectLst/>
                <a:latin typeface="Consolas" panose="020B0609020204030204" pitchFamily="49" charset="0"/>
              </a:rPr>
              <a:t>vscode</a:t>
            </a:r>
            <a:r>
              <a:rPr lang="en-US" altLang="zh-TW" sz="1400" b="0" i="0" dirty="0">
                <a:effectLst/>
                <a:latin typeface="Consolas" panose="020B0609020204030204" pitchFamily="49" charset="0"/>
              </a:rPr>
              <a:t>/build-gen/</a:t>
            </a:r>
            <a:r>
              <a:rPr lang="en-US" altLang="zh-TW" sz="1400" b="0" i="0" dirty="0" err="1">
                <a:effectLst/>
                <a:latin typeface="Consolas" panose="020B0609020204030204" pitchFamily="49" charset="0"/>
              </a:rPr>
              <a:t>project.settings.json</a:t>
            </a:r>
            <a:r>
              <a:rPr lang="zh-TW" altLang="en-US" sz="1400" b="0" i="0" dirty="0">
                <a:effectLst/>
                <a:latin typeface="-apple-system"/>
              </a:rPr>
              <a:t>，</a:t>
            </a:r>
            <a:r>
              <a:rPr lang="en-US" altLang="zh-TW" sz="1400" b="0" i="0" dirty="0">
                <a:effectLst/>
                <a:latin typeface="-apple-system"/>
              </a:rPr>
              <a:t>3 </a:t>
            </a:r>
            <a:r>
              <a:rPr lang="zh-TW" altLang="en-US" sz="1400" b="0" i="0" dirty="0">
                <a:effectLst/>
                <a:latin typeface="-apple-system"/>
              </a:rPr>
              <a:t>秒後自動儲存。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61493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049C1-59B4-D413-B31F-E04ADC6A1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70B6C49-D524-8F9F-1889-AB9BF519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860A17E-EAB0-4D4A-C16A-C97343C57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設定精靈</a:t>
            </a:r>
            <a:r>
              <a:rPr kumimoji="1" lang="en-US" altLang="zh-TW" dirty="0"/>
              <a:t>-Configuration Wizard</a:t>
            </a:r>
            <a:endParaRPr kumimoji="1"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D4F9CF7-DAEF-7F0F-2E10-E3327055DCCB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1D39138D-D9B7-0737-353F-1645424493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0629484"/>
              </p:ext>
            </p:extLst>
          </p:nvPr>
        </p:nvGraphicFramePr>
        <p:xfrm>
          <a:off x="1057740" y="1344941"/>
          <a:ext cx="4659119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1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800" dirty="0">
                          <a:effectLst/>
                        </a:rPr>
                        <a:t>檔案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800" dirty="0">
                          <a:effectLst/>
                        </a:rPr>
                        <a:t>用途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ht32fxxxx_conf.h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 err="1">
                          <a:effectLst/>
                        </a:rPr>
                        <a:t>Retarget（printf</a:t>
                      </a:r>
                      <a:r>
                        <a:rPr lang="en-US" sz="800" dirty="0">
                          <a:effectLst/>
                        </a:rPr>
                        <a:t>/</a:t>
                      </a:r>
                      <a:r>
                        <a:rPr lang="en-US" sz="800" dirty="0" err="1">
                          <a:effectLst/>
                        </a:rPr>
                        <a:t>scanf</a:t>
                      </a:r>
                      <a:r>
                        <a:rPr lang="en-US" sz="800" dirty="0">
                          <a:effectLst/>
                        </a:rPr>
                        <a:t> </a:t>
                      </a:r>
                      <a:r>
                        <a:rPr lang="zh-TW" altLang="en-US" sz="800" dirty="0">
                          <a:effectLst/>
                        </a:rPr>
                        <a:t>輸出埠、鮑率、函式庫啟用）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system_ht32fxxxx_NN.c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時鐘設定（</a:t>
                      </a:r>
                      <a:r>
                        <a:rPr lang="en-US" altLang="zh-TW" sz="800">
                          <a:effectLst/>
                        </a:rPr>
                        <a:t>PLL</a:t>
                      </a:r>
                      <a:r>
                        <a:rPr lang="zh-TW" altLang="en-US" sz="800">
                          <a:effectLst/>
                        </a:rPr>
                        <a:t>、</a:t>
                      </a:r>
                      <a:r>
                        <a:rPr lang="en-US" altLang="zh-TW" sz="800">
                          <a:effectLst/>
                        </a:rPr>
                        <a:t>HSE/HSI</a:t>
                      </a:r>
                      <a:r>
                        <a:rPr lang="zh-TW" altLang="en-US" sz="800">
                          <a:effectLst/>
                        </a:rPr>
                        <a:t>、</a:t>
                      </a:r>
                      <a:r>
                        <a:rPr lang="en-US" altLang="zh-TW" sz="800">
                          <a:effectLst/>
                        </a:rPr>
                        <a:t>HCLK</a:t>
                      </a:r>
                      <a:r>
                        <a:rPr lang="zh-TW" altLang="en-US" sz="800">
                          <a:effectLst/>
                        </a:rPr>
                        <a:t>、</a:t>
                      </a:r>
                      <a:r>
                        <a:rPr lang="en-US" altLang="zh-TW" sz="800">
                          <a:effectLst/>
                        </a:rPr>
                        <a:t>WDT</a:t>
                      </a:r>
                      <a:r>
                        <a:rPr lang="zh-TW" altLang="en-US" sz="800">
                          <a:effectLst/>
                        </a:rPr>
                        <a:t>）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ht32fxxxx_NN_usbdconf.h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USB </a:t>
                      </a:r>
                      <a:r>
                        <a:rPr lang="zh-TW" altLang="en-US" sz="800">
                          <a:effectLst/>
                        </a:rPr>
                        <a:t>端點設定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startup_ht32fxxxx_NN.s</a:t>
                      </a:r>
                      <a:endParaRPr lang="en-US" sz="8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effectLst/>
                        </a:rPr>
                        <a:t>Stack / Heap </a:t>
                      </a:r>
                      <a:r>
                        <a:rPr lang="zh-TW" altLang="en-US" sz="800" dirty="0">
                          <a:effectLst/>
                        </a:rPr>
                        <a:t>大小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2459809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FED9301D-9F62-995C-474F-5580C0413E84}"/>
              </a:ext>
            </a:extLst>
          </p:cNvPr>
          <p:cNvSpPr txBox="1"/>
          <p:nvPr/>
        </p:nvSpPr>
        <p:spPr>
          <a:xfrm>
            <a:off x="951571" y="885162"/>
            <a:ext cx="7121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1" dirty="0" err="1"/>
              <a:t>Holtek</a:t>
            </a:r>
            <a:r>
              <a:rPr lang="en-US" altLang="zh-TW" sz="1200" b="1" dirty="0"/>
              <a:t> Configuration Wizard</a:t>
            </a:r>
            <a:r>
              <a:rPr lang="en-US" altLang="zh-TW" sz="1200" dirty="0"/>
              <a:t> </a:t>
            </a:r>
            <a:r>
              <a:rPr lang="zh-TW" altLang="en-US" sz="1200" dirty="0"/>
              <a:t>為相依擴充功能，安裝 </a:t>
            </a:r>
            <a:r>
              <a:rPr lang="en-US" altLang="zh-TW" sz="1200" dirty="0"/>
              <a:t>Project Assistant </a:t>
            </a:r>
            <a:r>
              <a:rPr lang="zh-TW" altLang="en-US" sz="1200" dirty="0"/>
              <a:t>時會自動一併安裝，提供 </a:t>
            </a:r>
            <a:r>
              <a:rPr lang="en-US" altLang="zh-TW" sz="1200" dirty="0"/>
              <a:t>HT32 </a:t>
            </a:r>
            <a:r>
              <a:rPr lang="zh-TW" altLang="en-US" sz="1200" dirty="0"/>
              <a:t>韌體設定檔的視覺化圖形編輯介面，相容 </a:t>
            </a:r>
            <a:r>
              <a:rPr lang="en-US" altLang="zh-TW" sz="1200" dirty="0"/>
              <a:t>Keil MDK Configuration Wizard </a:t>
            </a:r>
            <a:r>
              <a:rPr lang="zh-TW" altLang="en-US" sz="1200" dirty="0"/>
              <a:t>語法。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3C05A09-E8A0-42F3-371B-6C176E672F2E}"/>
              </a:ext>
            </a:extLst>
          </p:cNvPr>
          <p:cNvSpPr txBox="1"/>
          <p:nvPr/>
        </p:nvSpPr>
        <p:spPr>
          <a:xfrm>
            <a:off x="951572" y="2557351"/>
            <a:ext cx="712191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b="1" dirty="0"/>
              <a:t>開啟方式</a:t>
            </a:r>
            <a:r>
              <a:rPr lang="en-US" altLang="zh-TW" sz="1100" b="1" dirty="0"/>
              <a:t>:</a:t>
            </a:r>
            <a:endParaRPr lang="zh-TW" altLang="en-US" sz="1100" b="1" dirty="0"/>
          </a:p>
          <a:p>
            <a:r>
              <a:rPr lang="en-US" altLang="zh-TW" sz="1100" dirty="0"/>
              <a:t>1. </a:t>
            </a:r>
            <a:r>
              <a:rPr lang="zh-TW" altLang="en-US" sz="1100" dirty="0"/>
              <a:t>開啟支援的檔案（</a:t>
            </a:r>
            <a:r>
              <a:rPr lang="en-US" altLang="zh-TW" sz="1100" dirty="0"/>
              <a:t>.h</a:t>
            </a:r>
            <a:r>
              <a:rPr lang="zh-TW" altLang="en-US" sz="1100" dirty="0"/>
              <a:t>、</a:t>
            </a:r>
            <a:r>
              <a:rPr lang="en-US" altLang="zh-TW" sz="1100" dirty="0"/>
              <a:t>.c</a:t>
            </a:r>
            <a:r>
              <a:rPr lang="zh-TW" altLang="en-US" sz="1100" dirty="0"/>
              <a:t>、</a:t>
            </a:r>
            <a:r>
              <a:rPr lang="en-US" altLang="zh-TW" sz="1100" dirty="0"/>
              <a:t>.s</a:t>
            </a:r>
            <a:r>
              <a:rPr lang="zh-TW" altLang="en-US" sz="1100" dirty="0"/>
              <a:t>）後，點擊編輯器右上角的 </a:t>
            </a:r>
            <a:r>
              <a:rPr lang="en-US" altLang="zh-TW" sz="1100" dirty="0"/>
              <a:t>Preview </a:t>
            </a:r>
            <a:r>
              <a:rPr lang="zh-TW" altLang="en-US" sz="1100" dirty="0"/>
              <a:t>按鈕即可切換為 </a:t>
            </a:r>
            <a:r>
              <a:rPr lang="en-US" altLang="zh-TW" sz="1100" dirty="0"/>
              <a:t>Wizard </a:t>
            </a:r>
            <a:r>
              <a:rPr lang="zh-TW" altLang="en-US" sz="1100" dirty="0"/>
              <a:t>視圖；點擊 </a:t>
            </a:r>
            <a:r>
              <a:rPr lang="en-US" altLang="zh-TW" sz="1100" dirty="0"/>
              <a:t>Go to File </a:t>
            </a:r>
            <a:r>
              <a:rPr lang="zh-TW" altLang="en-US" sz="1100" dirty="0"/>
              <a:t>切換回文字編輯。</a:t>
            </a:r>
          </a:p>
          <a:p>
            <a:r>
              <a:rPr lang="en-US" altLang="zh-TW" sz="1100" dirty="0"/>
              <a:t>2. </a:t>
            </a:r>
            <a:r>
              <a:rPr lang="zh-TW" altLang="en-US" sz="1100" dirty="0"/>
              <a:t>在 </a:t>
            </a:r>
            <a:r>
              <a:rPr lang="en-US" altLang="zh-TW" sz="1100" dirty="0"/>
              <a:t>Explorer </a:t>
            </a:r>
            <a:r>
              <a:rPr lang="zh-TW" altLang="en-US" sz="1100" dirty="0"/>
              <a:t>中對 </a:t>
            </a:r>
            <a:r>
              <a:rPr lang="en-US" altLang="zh-TW" sz="1100" dirty="0"/>
              <a:t>.h</a:t>
            </a:r>
            <a:r>
              <a:rPr lang="zh-TW" altLang="en-US" sz="1100" dirty="0"/>
              <a:t>、</a:t>
            </a:r>
            <a:r>
              <a:rPr lang="en-US" altLang="zh-TW" sz="1100" dirty="0"/>
              <a:t>.c</a:t>
            </a:r>
            <a:r>
              <a:rPr lang="zh-TW" altLang="en-US" sz="1100" dirty="0"/>
              <a:t>、</a:t>
            </a:r>
            <a:r>
              <a:rPr lang="en-US" altLang="zh-TW" sz="1100" dirty="0"/>
              <a:t>.s </a:t>
            </a:r>
            <a:r>
              <a:rPr lang="zh-TW" altLang="en-US" sz="1100" dirty="0"/>
              <a:t>檔案按右鍵 → </a:t>
            </a:r>
            <a:r>
              <a:rPr lang="en-US" altLang="zh-TW" sz="1100" dirty="0"/>
              <a:t>Open in </a:t>
            </a:r>
            <a:r>
              <a:rPr lang="en-US" altLang="zh-TW" sz="1100" dirty="0" err="1"/>
              <a:t>Holtek</a:t>
            </a:r>
            <a:r>
              <a:rPr lang="en-US" altLang="zh-TW" sz="1100" dirty="0"/>
              <a:t> Configuration Wizard</a:t>
            </a:r>
          </a:p>
          <a:p>
            <a:r>
              <a:rPr lang="en-US" altLang="zh-TW" sz="1100" dirty="0"/>
              <a:t>3. </a:t>
            </a:r>
            <a:r>
              <a:rPr lang="en-US" altLang="zh-TW" sz="1100" dirty="0" err="1"/>
              <a:t>Ctrl+Shift+P</a:t>
            </a:r>
            <a:r>
              <a:rPr lang="en-US" altLang="zh-TW" sz="1100" dirty="0"/>
              <a:t> → HT32: Open in </a:t>
            </a:r>
            <a:r>
              <a:rPr lang="en-US" altLang="zh-TW" sz="1100" dirty="0" err="1"/>
              <a:t>Holtek</a:t>
            </a:r>
            <a:r>
              <a:rPr lang="en-US" altLang="zh-TW" sz="1100" dirty="0"/>
              <a:t> Configuration Wizard</a:t>
            </a:r>
          </a:p>
        </p:txBody>
      </p:sp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FA761D0C-7F1B-9BA3-4580-622F28B672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5824965"/>
              </p:ext>
            </p:extLst>
          </p:nvPr>
        </p:nvGraphicFramePr>
        <p:xfrm>
          <a:off x="1057740" y="3512770"/>
          <a:ext cx="465911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8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800" dirty="0">
                          <a:effectLst/>
                        </a:rPr>
                        <a:t>類型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800">
                          <a:effectLst/>
                        </a:rPr>
                        <a:t>說明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Checkbox（</a:t>
                      </a: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&lt;q&gt;</a:t>
                      </a:r>
                      <a:r>
                        <a:rPr lang="en-US" sz="800">
                          <a:effectLst/>
                        </a:rPr>
                        <a:t>）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切換開關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Dropdown（</a:t>
                      </a: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&lt;o&gt;</a:t>
                      </a:r>
                      <a:r>
                        <a:rPr lang="en-US" sz="800">
                          <a:effectLst/>
                        </a:rPr>
                        <a:t> </a:t>
                      </a:r>
                      <a:r>
                        <a:rPr lang="zh-TW" altLang="en-US" sz="800">
                          <a:effectLst/>
                        </a:rPr>
                        <a:t>含選項）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從預定義清單選擇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Number（</a:t>
                      </a: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&lt;o&gt;</a:t>
                      </a:r>
                      <a:r>
                        <a:rPr lang="en-US" sz="800">
                          <a:effectLst/>
                        </a:rPr>
                        <a:t> </a:t>
                      </a:r>
                      <a:r>
                        <a:rPr lang="zh-TW" altLang="en-US" sz="800">
                          <a:effectLst/>
                        </a:rPr>
                        <a:t>含範圍）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在允許範圍內輸入數值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Enable Section（</a:t>
                      </a: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&lt;e&gt;</a:t>
                      </a:r>
                      <a:r>
                        <a:rPr lang="en-US" sz="800">
                          <a:effectLst/>
                        </a:rPr>
                        <a:t>）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>
                          <a:effectLst/>
                        </a:rPr>
                        <a:t>主開關，控制整組設定的啟用／停用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2459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Heading（</a:t>
                      </a:r>
                      <a:r>
                        <a:rPr lang="en-US" sz="800">
                          <a:solidFill>
                            <a:srgbClr val="8C8C8C"/>
                          </a:solidFill>
                          <a:effectLst/>
                          <a:latin typeface="Consolas" panose="020B0609020204030204" pitchFamily="49" charset="0"/>
                        </a:rPr>
                        <a:t>&lt;h&gt;</a:t>
                      </a:r>
                      <a:r>
                        <a:rPr lang="en-US" sz="800">
                          <a:effectLst/>
                        </a:rPr>
                        <a:t>）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800" dirty="0">
                          <a:effectLst/>
                        </a:rPr>
                        <a:t>可摺疊群組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55922617"/>
                  </a:ext>
                </a:extLst>
              </a:tr>
            </a:tbl>
          </a:graphicData>
        </a:graphic>
      </p:graphicFrame>
      <p:pic>
        <p:nvPicPr>
          <p:cNvPr id="11" name="圖片 10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0265AF9F-8C7A-CE61-C374-39EF06E29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754" y="1346827"/>
            <a:ext cx="1612729" cy="133534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E7439C23-F792-0ED3-A57D-C3A435749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652" y="1346827"/>
            <a:ext cx="213378" cy="228620"/>
          </a:xfrm>
          <a:prstGeom prst="rect">
            <a:avLst/>
          </a:prstGeom>
        </p:spPr>
      </p:pic>
      <p:pic>
        <p:nvPicPr>
          <p:cNvPr id="15" name="圖片 14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357161C2-C7BE-6D81-0FC4-08C95A0F08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583" y="3246144"/>
            <a:ext cx="2217617" cy="121687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510FB24D-398E-5F89-6776-DC00038E6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7124" y="3245679"/>
            <a:ext cx="205758" cy="22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31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0DBF8-073D-F976-537F-7282487BA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C33A77B-0E9C-10B5-D712-13654321E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DE78510-5A5B-EE8B-45C8-2BE83C25A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IntelliSense</a:t>
            </a:r>
            <a:r>
              <a:rPr lang="zh-TW" altLang="en-US" dirty="0"/>
              <a:t>（</a:t>
            </a:r>
            <a:r>
              <a:rPr lang="en-US" altLang="zh-TW" dirty="0" err="1"/>
              <a:t>clangd</a:t>
            </a:r>
            <a:r>
              <a:rPr lang="zh-TW" altLang="en-US" dirty="0"/>
              <a:t>）</a:t>
            </a:r>
            <a:endParaRPr kumimoji="1"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CCE48C5B-39A3-DEBB-AF74-CE91534220A2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E52411C2-6B4F-ED0D-B4CA-C3E26DF51E86}"/>
              </a:ext>
            </a:extLst>
          </p:cNvPr>
          <p:cNvSpPr txBox="1">
            <a:spLocks/>
          </p:cNvSpPr>
          <p:nvPr/>
        </p:nvSpPr>
        <p:spPr>
          <a:xfrm>
            <a:off x="529944" y="1050351"/>
            <a:ext cx="7751695" cy="159698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●"/>
              <a:defRPr sz="13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tabLst>
                <a:tab pos="1207294" algn="l"/>
                <a:tab pos="1207294" algn="l"/>
                <a:tab pos="1207294" algn="l"/>
                <a:tab pos="1207294" algn="l"/>
              </a:tabLst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Wingdings" panose="05000000000000000000" charset="0"/>
              <a:buChar char="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200" dirty="0"/>
              <a:t>匯入或建立專案後，自動產生：</a:t>
            </a:r>
            <a:endParaRPr lang="en-US" altLang="zh-TW" sz="1200" dirty="0"/>
          </a:p>
          <a:p>
            <a:pPr marL="571500" lvl="1" indent="-228600">
              <a:buFont typeface="+mj-lt"/>
              <a:buAutoNum type="arabicPeriod"/>
            </a:pPr>
            <a:r>
              <a:rPr lang="zh-TW" altLang="en-US" dirty="0"/>
              <a:t> </a:t>
            </a:r>
            <a:r>
              <a:rPr lang="en-US" altLang="zh-TW" dirty="0"/>
              <a:t>.</a:t>
            </a:r>
            <a:r>
              <a:rPr lang="en-US" altLang="zh-TW" dirty="0" err="1"/>
              <a:t>clangd</a:t>
            </a:r>
            <a:r>
              <a:rPr lang="en-US" altLang="zh-TW" dirty="0"/>
              <a:t> — include </a:t>
            </a:r>
            <a:r>
              <a:rPr lang="zh-TW" altLang="en-US" dirty="0"/>
              <a:t>路徑、編譯旗標 </a:t>
            </a:r>
            <a:endParaRPr lang="en-US" altLang="zh-TW" dirty="0"/>
          </a:p>
          <a:p>
            <a:pPr marL="571500" lvl="1" indent="-228600">
              <a:buFont typeface="+mj-lt"/>
              <a:buAutoNum type="arabicPeriod"/>
            </a:pPr>
            <a:r>
              <a:rPr lang="en-US" altLang="zh-TW" dirty="0"/>
              <a:t> .</a:t>
            </a:r>
            <a:r>
              <a:rPr lang="en-US" altLang="zh-TW" dirty="0" err="1"/>
              <a:t>vscode</a:t>
            </a:r>
            <a:r>
              <a:rPr lang="en-US" altLang="zh-TW" dirty="0"/>
              <a:t>/</a:t>
            </a:r>
            <a:r>
              <a:rPr lang="en-US" altLang="zh-TW" dirty="0" err="1"/>
              <a:t>compile_commands.json</a:t>
            </a:r>
            <a:r>
              <a:rPr lang="en-US" altLang="zh-TW" dirty="0"/>
              <a:t> - </a:t>
            </a:r>
            <a:r>
              <a:rPr lang="zh-TW" altLang="en-US" dirty="0"/>
              <a:t>合併版，供 </a:t>
            </a:r>
            <a:r>
              <a:rPr lang="en-US" altLang="zh-TW" dirty="0" err="1"/>
              <a:t>clangd</a:t>
            </a:r>
            <a:r>
              <a:rPr lang="en-US" altLang="zh-TW" dirty="0"/>
              <a:t> </a:t>
            </a:r>
            <a:r>
              <a:rPr lang="zh-TW" altLang="en-US" dirty="0"/>
              <a:t>使用</a:t>
            </a:r>
          </a:p>
          <a:p>
            <a:r>
              <a:rPr lang="zh-TW" altLang="en-US" sz="1200" dirty="0"/>
              <a:t>建議安裝 </a:t>
            </a:r>
            <a:r>
              <a:rPr lang="en-US" altLang="zh-TW" sz="1200" b="1" dirty="0" err="1"/>
              <a:t>clangd</a:t>
            </a:r>
            <a:r>
              <a:rPr lang="en-US" altLang="zh-TW" sz="1200" dirty="0"/>
              <a:t> Extension(</a:t>
            </a:r>
            <a:r>
              <a:rPr lang="en-US" altLang="zh-TW" sz="1200" dirty="0" err="1"/>
              <a:t>llvm</a:t>
            </a:r>
            <a:r>
              <a:rPr lang="en-US" altLang="zh-TW" sz="1200" dirty="0"/>
              <a:t>-vs-code-</a:t>
            </a:r>
            <a:r>
              <a:rPr lang="en-US" altLang="zh-TW" sz="1200" dirty="0" err="1"/>
              <a:t>extensions.vscode</a:t>
            </a:r>
            <a:r>
              <a:rPr lang="en-US" altLang="zh-TW" sz="1200" dirty="0"/>
              <a:t>-</a:t>
            </a:r>
            <a:r>
              <a:rPr lang="en-US" altLang="zh-TW" sz="1200" dirty="0" err="1"/>
              <a:t>clangd</a:t>
            </a:r>
            <a:r>
              <a:rPr lang="en-US" altLang="zh-TW" sz="1200" dirty="0"/>
              <a:t>)</a:t>
            </a:r>
            <a:r>
              <a:rPr lang="en-US" altLang="zh-TW" sz="1200" dirty="0">
                <a:latin typeface="Courier"/>
              </a:rPr>
              <a:t> </a:t>
            </a:r>
            <a:r>
              <a:rPr lang="zh-TW" altLang="en-US" sz="1200" dirty="0"/>
              <a:t>並停用內建 </a:t>
            </a:r>
            <a:r>
              <a:rPr lang="en-US" altLang="zh-TW" sz="1200" dirty="0"/>
              <a:t>C/C++ IntelliSense </a:t>
            </a:r>
            <a:r>
              <a:rPr lang="zh-TW" altLang="en-US" sz="1200" dirty="0"/>
              <a:t>以避免衝突。</a:t>
            </a:r>
            <a:br>
              <a:rPr lang="zh-TW" altLang="en-US" sz="1200" dirty="0"/>
            </a:br>
            <a:r>
              <a:rPr lang="en-US" altLang="zh-TW" sz="1200" dirty="0"/>
              <a:t> 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B4D5D8D4-AF69-874F-C8F3-F0D66C47C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84" y="2650551"/>
            <a:ext cx="3605562" cy="1348196"/>
          </a:xfrm>
          <a:prstGeom prst="rect">
            <a:avLst/>
          </a:prstGeom>
        </p:spPr>
      </p:pic>
      <p:pic>
        <p:nvPicPr>
          <p:cNvPr id="11" name="圖片 10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5116A58B-6759-B220-D69C-3D11989E6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127" y="2644055"/>
            <a:ext cx="4458713" cy="174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023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15B84-9CC0-78BC-5FFD-B1A0827ED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097207-789F-45AE-89A9-3EA0EFF9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9652" y="4712940"/>
            <a:ext cx="832914" cy="237600"/>
          </a:xfrm>
        </p:spPr>
        <p:txBody>
          <a:bodyPr>
            <a:normAutofit lnSpcReduction="10000"/>
          </a:bodyPr>
          <a:lstStyle/>
          <a:p>
            <a:fld id="{49AE70B2-8BF9-45C0-BB95-33D1B9D3A854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91A7144-341B-0D6F-C94E-9EDAB0663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IntelliSense</a:t>
            </a:r>
            <a:r>
              <a:rPr lang="zh-TW" altLang="en-US" dirty="0"/>
              <a:t>（</a:t>
            </a:r>
            <a:r>
              <a:rPr lang="en-US" altLang="zh-TW" dirty="0" err="1"/>
              <a:t>clangd</a:t>
            </a:r>
            <a:r>
              <a:rPr lang="zh-TW" altLang="en-US" dirty="0"/>
              <a:t>）</a:t>
            </a:r>
            <a:endParaRPr kumimoji="1" lang="zh-TW" altLang="en-US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C9545C93-90F3-112E-464B-1554CA9F8971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6300" y="1043855"/>
            <a:ext cx="8226900" cy="1600200"/>
          </a:xfrm>
          <a:prstGeom prst="rect">
            <a:avLst/>
          </a:prstGeom>
        </p:spPr>
        <p:txBody>
          <a:bodyPr vert="horz" lIns="67500" tIns="35100" rIns="67500" bIns="351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 dirty="0"/>
          </a:p>
        </p:txBody>
      </p:sp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5F845C89-D173-B918-5034-C3005EF1E23B}"/>
              </a:ext>
            </a:extLst>
          </p:cNvPr>
          <p:cNvSpPr txBox="1">
            <a:spLocks/>
          </p:cNvSpPr>
          <p:nvPr/>
        </p:nvSpPr>
        <p:spPr>
          <a:xfrm>
            <a:off x="624468" y="1057785"/>
            <a:ext cx="7902498" cy="335809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●"/>
              <a:defRPr sz="13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tabLst>
                <a:tab pos="1207294" algn="l"/>
                <a:tab pos="1207294" algn="l"/>
                <a:tab pos="1207294" algn="l"/>
                <a:tab pos="1207294" algn="l"/>
              </a:tabLst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●"/>
              <a:defRPr sz="120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Wingdings" panose="05000000000000000000" charset="0"/>
              <a:buChar char="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 sz="1050" u="none" strike="noStrike" kern="1200" cap="none" spc="113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1200" dirty="0"/>
              <a:t> </a:t>
            </a:r>
            <a:r>
              <a:rPr lang="en-US" altLang="zh-TW" sz="1200" dirty="0" err="1"/>
              <a:t>clangd</a:t>
            </a:r>
            <a:r>
              <a:rPr lang="en-US" altLang="zh-TW" sz="1200" dirty="0"/>
              <a:t> </a:t>
            </a:r>
            <a:r>
              <a:rPr lang="zh-TW" altLang="en-US" sz="1200" dirty="0"/>
              <a:t>是以 </a:t>
            </a:r>
            <a:r>
              <a:rPr lang="en-US" altLang="zh-TW" sz="1200" dirty="0"/>
              <a:t>LLVM/Clang </a:t>
            </a:r>
            <a:r>
              <a:rPr lang="zh-TW" altLang="en-US" sz="1200" dirty="0"/>
              <a:t>為基礎的 </a:t>
            </a:r>
            <a:r>
              <a:rPr lang="en-US" altLang="zh-TW" sz="1200" dirty="0"/>
              <a:t>Language Server</a:t>
            </a:r>
            <a:r>
              <a:rPr lang="zh-TW" altLang="en-US" sz="1200" dirty="0"/>
              <a:t>，透過 </a:t>
            </a:r>
            <a:r>
              <a:rPr lang="en-US" altLang="zh-TW" sz="1200" dirty="0"/>
              <a:t>LSP </a:t>
            </a:r>
            <a:r>
              <a:rPr lang="zh-TW" altLang="en-US" sz="1200" dirty="0"/>
              <a:t>協定提供以下功能：</a:t>
            </a:r>
          </a:p>
          <a:p>
            <a:pPr>
              <a:lnSpc>
                <a:spcPct val="100000"/>
              </a:lnSpc>
            </a:pPr>
            <a:r>
              <a:rPr lang="zh-TW" altLang="en-US" sz="1200" dirty="0"/>
              <a:t>編輯輔助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zh-TW" altLang="en-US" sz="1050" dirty="0"/>
              <a:t>自動完成 </a:t>
            </a:r>
            <a:r>
              <a:rPr lang="en-US" altLang="zh-TW" sz="1050" dirty="0"/>
              <a:t>— </a:t>
            </a:r>
            <a:r>
              <a:rPr lang="zh-TW" altLang="en-US" sz="1050" dirty="0"/>
              <a:t>輸入時即時列出符合的函式、變數、</a:t>
            </a:r>
            <a:r>
              <a:rPr lang="en-US" altLang="zh-TW" sz="1050" dirty="0"/>
              <a:t>macro</a:t>
            </a:r>
            <a:r>
              <a:rPr lang="zh-TW" altLang="en-US" sz="1050" dirty="0"/>
              <a:t>、</a:t>
            </a:r>
            <a:r>
              <a:rPr lang="en-US" altLang="zh-TW" sz="1050" dirty="0"/>
              <a:t>struct </a:t>
            </a:r>
            <a:r>
              <a:rPr lang="zh-TW" altLang="en-US" sz="1050" dirty="0"/>
              <a:t>成員，附帶型別與說明</a:t>
            </a:r>
            <a:endParaRPr lang="en-US" altLang="zh-TW" sz="1050" dirty="0"/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en-US" altLang="zh-TW" sz="1050" dirty="0"/>
              <a:t>Signature Help — </a:t>
            </a:r>
            <a:r>
              <a:rPr lang="zh-TW" altLang="en-US" sz="1050" dirty="0"/>
              <a:t>呼叫函式時顯示參數列表，標示目前游標在第幾個參數</a:t>
            </a:r>
            <a:r>
              <a:rPr lang="en-US" altLang="zh-TW" sz="1050" dirty="0"/>
              <a:t>	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en-US" altLang="zh-TW" sz="1050" dirty="0"/>
              <a:t>Hover — </a:t>
            </a:r>
            <a:r>
              <a:rPr lang="zh-TW" altLang="en-US" sz="1050" dirty="0"/>
              <a:t>滑鼠懸停顯示宣告原型、</a:t>
            </a:r>
            <a:r>
              <a:rPr lang="en-US" altLang="zh-TW" sz="1050" dirty="0" err="1"/>
              <a:t>doxygen</a:t>
            </a:r>
            <a:r>
              <a:rPr lang="en-US" altLang="zh-TW" sz="1050" dirty="0"/>
              <a:t> </a:t>
            </a:r>
            <a:r>
              <a:rPr lang="zh-TW" altLang="en-US" sz="1050" dirty="0"/>
              <a:t>註解、</a:t>
            </a:r>
            <a:r>
              <a:rPr lang="en-US" altLang="zh-TW" sz="1050" dirty="0"/>
              <a:t>macro </a:t>
            </a:r>
            <a:r>
              <a:rPr lang="zh-TW" altLang="en-US" sz="1050" dirty="0"/>
              <a:t>展開結果</a:t>
            </a:r>
            <a:endParaRPr lang="zh-TW" altLang="en-US" sz="1200" dirty="0"/>
          </a:p>
          <a:p>
            <a:pPr>
              <a:lnSpc>
                <a:spcPct val="100000"/>
              </a:lnSpc>
            </a:pPr>
            <a:r>
              <a:rPr lang="zh-TW" altLang="en-US" sz="1200" dirty="0"/>
              <a:t>  導航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zh-TW" altLang="en-US" sz="1050" dirty="0"/>
              <a:t>跳到宣告</a:t>
            </a:r>
            <a:r>
              <a:rPr lang="en-US" altLang="zh-TW" sz="1050" dirty="0"/>
              <a:t>/</a:t>
            </a:r>
            <a:r>
              <a:rPr lang="zh-TW" altLang="en-US" sz="1050" dirty="0"/>
              <a:t>定義處（含跨檔案、跨 </a:t>
            </a:r>
            <a:r>
              <a:rPr lang="en-US" altLang="zh-TW" sz="1050" dirty="0" err="1"/>
              <a:t>FWLib</a:t>
            </a:r>
            <a:r>
              <a:rPr lang="zh-TW" altLang="en-US" sz="1050" dirty="0"/>
              <a:t>）</a:t>
            </a:r>
            <a:endParaRPr lang="en-US" altLang="zh-TW" sz="1050" dirty="0"/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zh-TW" altLang="en-US" sz="1050" dirty="0"/>
              <a:t>跳到標頭檔宣告</a:t>
            </a:r>
            <a:endParaRPr lang="en-US" altLang="zh-TW" sz="1050" dirty="0"/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zh-TW" altLang="en-US" sz="1200" dirty="0"/>
              <a:t>列出所有使用位置</a:t>
            </a:r>
            <a:endParaRPr lang="en-US" altLang="zh-TW" sz="1200" dirty="0"/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zh-TW" altLang="en-US" sz="1200" dirty="0"/>
              <a:t>在目前檔案中搜尋符號</a:t>
            </a:r>
          </a:p>
          <a:p>
            <a:pPr>
              <a:lnSpc>
                <a:spcPct val="100000"/>
              </a:lnSpc>
            </a:pPr>
            <a:r>
              <a:rPr lang="zh-TW" altLang="en-US" sz="1200" dirty="0"/>
              <a:t>  錯誤診斷</a:t>
            </a:r>
            <a:endParaRPr lang="en-US" altLang="zh-TW" sz="1200" dirty="0"/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zh-TW" altLang="en-US" sz="1050" dirty="0"/>
              <a:t>即時錯誤</a:t>
            </a:r>
            <a:r>
              <a:rPr lang="en-US" altLang="zh-TW" sz="1050" dirty="0"/>
              <a:t>/</a:t>
            </a:r>
            <a:r>
              <a:rPr lang="zh-TW" altLang="en-US" sz="1050" dirty="0"/>
              <a:t>警告 </a:t>
            </a:r>
            <a:r>
              <a:rPr lang="en-US" altLang="zh-TW" sz="1050" dirty="0"/>
              <a:t>— </a:t>
            </a:r>
            <a:r>
              <a:rPr lang="zh-TW" altLang="en-US" sz="1050" dirty="0"/>
              <a:t>不需編譯就能看到型別錯誤、未宣告識別字、語法錯誤（紅</a:t>
            </a:r>
            <a:r>
              <a:rPr lang="en-US" altLang="zh-TW" sz="1050" dirty="0"/>
              <a:t>/</a:t>
            </a:r>
            <a:r>
              <a:rPr lang="zh-TW" altLang="en-US" sz="1050" dirty="0"/>
              <a:t>黃波浪線）</a:t>
            </a:r>
            <a:endParaRPr lang="en-US" altLang="zh-TW" sz="1050" dirty="0"/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zh-TW" altLang="en-US" sz="1200" dirty="0"/>
              <a:t>使用 </a:t>
            </a:r>
            <a:r>
              <a:rPr lang="en-US" altLang="zh-TW" sz="1200" dirty="0" err="1"/>
              <a:t>compile_commands.json</a:t>
            </a:r>
            <a:r>
              <a:rPr lang="en-US" altLang="zh-TW" sz="1200" dirty="0"/>
              <a:t> </a:t>
            </a:r>
            <a:r>
              <a:rPr lang="zh-TW" altLang="en-US" sz="1200" dirty="0"/>
              <a:t>確保 </a:t>
            </a:r>
            <a:r>
              <a:rPr lang="en-US" altLang="zh-TW" sz="1200" dirty="0"/>
              <a:t>include path </a:t>
            </a:r>
            <a:r>
              <a:rPr lang="zh-TW" altLang="en-US" sz="1200" dirty="0"/>
              <a:t>與 </a:t>
            </a:r>
            <a:r>
              <a:rPr lang="en-US" altLang="zh-TW" sz="1200" dirty="0"/>
              <a:t>define </a:t>
            </a:r>
            <a:r>
              <a:rPr lang="zh-TW" altLang="en-US" sz="1200" dirty="0"/>
              <a:t>與實際編譯完全一致，不會有誤報</a:t>
            </a:r>
          </a:p>
        </p:txBody>
      </p:sp>
    </p:spTree>
    <p:extLst>
      <p:ext uri="{BB962C8B-B14F-4D97-AF65-F5344CB8AC3E}">
        <p14:creationId xmlns:p14="http://schemas.microsoft.com/office/powerpoint/2010/main" val="422160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3461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通用版會議母片_20240129</Template>
  <TotalTime>3737</TotalTime>
  <Words>1803</Words>
  <Application>Microsoft Office PowerPoint</Application>
  <PresentationFormat>如螢幕大小 (16:9)</PresentationFormat>
  <Paragraphs>332</Paragraphs>
  <Slides>22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1" baseType="lpstr">
      <vt:lpstr>-apple-system</vt:lpstr>
      <vt:lpstr>Courier</vt:lpstr>
      <vt:lpstr>微软雅黑</vt:lpstr>
      <vt:lpstr>Microsoft JhengHei</vt:lpstr>
      <vt:lpstr>Microsoft JhengHei</vt:lpstr>
      <vt:lpstr>Arial</vt:lpstr>
      <vt:lpstr>Consolas</vt:lpstr>
      <vt:lpstr>Wingdings</vt:lpstr>
      <vt:lpstr>Office 主题​​</vt:lpstr>
      <vt:lpstr>HT32 VSCode開發環境擴充功能</vt:lpstr>
      <vt:lpstr>簡介</vt:lpstr>
      <vt:lpstr>介面介紹</vt:lpstr>
      <vt:lpstr>安裝Extension</vt:lpstr>
      <vt:lpstr>介面介紹(1)</vt:lpstr>
      <vt:lpstr>介面介紹(2)</vt:lpstr>
      <vt:lpstr>建立新專案(1)</vt:lpstr>
      <vt:lpstr>建立新專案(2)</vt:lpstr>
      <vt:lpstr>匯入Keil專案</vt:lpstr>
      <vt:lpstr>匯入HT32-IDE專案</vt:lpstr>
      <vt:lpstr>建置/清除</vt:lpstr>
      <vt:lpstr>燒錄韌體</vt:lpstr>
      <vt:lpstr>除錯</vt:lpstr>
      <vt:lpstr>除錯</vt:lpstr>
      <vt:lpstr>專案設定 — 編譯</vt:lpstr>
      <vt:lpstr>專案設定 —函式庫 &amp; 其他</vt:lpstr>
      <vt:lpstr>專案設定 — 除錯 / 燒錄</vt:lpstr>
      <vt:lpstr>專案設定 —工具鏈路徑（全域）</vt:lpstr>
      <vt:lpstr>設定精靈-Configuration Wizard</vt:lpstr>
      <vt:lpstr>IntelliSense（clangd）</vt:lpstr>
      <vt:lpstr>IntelliSense（clangd）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蘇麗卿</cp:lastModifiedBy>
  <cp:revision>34</cp:revision>
  <dcterms:created xsi:type="dcterms:W3CDTF">2026-05-21T11:29:27Z</dcterms:created>
  <dcterms:modified xsi:type="dcterms:W3CDTF">2026-06-01T06:33:07Z</dcterms:modified>
</cp:coreProperties>
</file>